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2" r:id="rId4"/>
  </p:sldMasterIdLst>
  <p:notesMasterIdLst>
    <p:notesMasterId r:id="rId10"/>
  </p:notesMasterIdLst>
  <p:sldIdLst>
    <p:sldId id="256" r:id="rId5"/>
    <p:sldId id="257" r:id="rId6"/>
    <p:sldId id="261" r:id="rId7"/>
    <p:sldId id="259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519E"/>
    <a:srgbClr val="2DA9E1"/>
    <a:srgbClr val="1C3665"/>
    <a:srgbClr val="8EC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B999ED-BC1B-4121-BB13-AD3ECCA7D61B}" v="1" dt="2026-07-17T14:23:41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94"/>
  </p:normalViewPr>
  <p:slideViewPr>
    <p:cSldViewPr snapToGrid="0" snapToObjects="1">
      <p:cViewPr varScale="1">
        <p:scale>
          <a:sx n="62" d="100"/>
          <a:sy n="62" d="100"/>
        </p:scale>
        <p:origin x="7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 Vishwa Naicker" userId="b0a120ab-4096-4d7c-ad0a-0703db5c9336" providerId="ADAL" clId="{4DDE1817-2C02-46EF-B55F-C346D21C243D}"/>
    <pc:docChg chg="undo custSel delSld modSld">
      <pc:chgData name="Hari Vishwa Naicker" userId="b0a120ab-4096-4d7c-ad0a-0703db5c9336" providerId="ADAL" clId="{4DDE1817-2C02-46EF-B55F-C346D21C243D}" dt="2026-07-17T15:39:49.454" v="247" actId="20577"/>
      <pc:docMkLst>
        <pc:docMk/>
      </pc:docMkLst>
      <pc:sldChg chg="modSp mod">
        <pc:chgData name="Hari Vishwa Naicker" userId="b0a120ab-4096-4d7c-ad0a-0703db5c9336" providerId="ADAL" clId="{4DDE1817-2C02-46EF-B55F-C346D21C243D}" dt="2026-07-17T15:39:49.454" v="247" actId="20577"/>
        <pc:sldMkLst>
          <pc:docMk/>
          <pc:sldMk cId="1665996140" sldId="256"/>
        </pc:sldMkLst>
        <pc:spChg chg="mod">
          <ac:chgData name="Hari Vishwa Naicker" userId="b0a120ab-4096-4d7c-ad0a-0703db5c9336" providerId="ADAL" clId="{4DDE1817-2C02-46EF-B55F-C346D21C243D}" dt="2026-07-17T15:39:49.454" v="247" actId="20577"/>
          <ac:spMkLst>
            <pc:docMk/>
            <pc:sldMk cId="1665996140" sldId="256"/>
            <ac:spMk id="2" creationId="{6AFFBDF4-D027-5540-A4D0-49BD3CCE65CE}"/>
          </ac:spMkLst>
        </pc:spChg>
      </pc:sldChg>
      <pc:sldChg chg="modSp mod">
        <pc:chgData name="Hari Vishwa Naicker" userId="b0a120ab-4096-4d7c-ad0a-0703db5c9336" providerId="ADAL" clId="{4DDE1817-2C02-46EF-B55F-C346D21C243D}" dt="2026-07-17T14:41:00.498" v="246" actId="20577"/>
        <pc:sldMkLst>
          <pc:docMk/>
          <pc:sldMk cId="707609776" sldId="259"/>
        </pc:sldMkLst>
        <pc:spChg chg="mod">
          <ac:chgData name="Hari Vishwa Naicker" userId="b0a120ab-4096-4d7c-ad0a-0703db5c9336" providerId="ADAL" clId="{4DDE1817-2C02-46EF-B55F-C346D21C243D}" dt="2026-07-17T14:41:00.498" v="246" actId="20577"/>
          <ac:spMkLst>
            <pc:docMk/>
            <pc:sldMk cId="707609776" sldId="259"/>
            <ac:spMk id="3" creationId="{47309C2A-4FBE-6C19-9873-6A281E603BEC}"/>
          </ac:spMkLst>
        </pc:spChg>
      </pc:sldChg>
      <pc:sldChg chg="modSp del mod">
        <pc:chgData name="Hari Vishwa Naicker" userId="b0a120ab-4096-4d7c-ad0a-0703db5c9336" providerId="ADAL" clId="{4DDE1817-2C02-46EF-B55F-C346D21C243D}" dt="2026-07-17T14:23:54.489" v="128" actId="47"/>
        <pc:sldMkLst>
          <pc:docMk/>
          <pc:sldMk cId="1030311055" sldId="260"/>
        </pc:sldMkLst>
        <pc:spChg chg="mod">
          <ac:chgData name="Hari Vishwa Naicker" userId="b0a120ab-4096-4d7c-ad0a-0703db5c9336" providerId="ADAL" clId="{4DDE1817-2C02-46EF-B55F-C346D21C243D}" dt="2026-07-17T14:23:32.884" v="107" actId="21"/>
          <ac:spMkLst>
            <pc:docMk/>
            <pc:sldMk cId="1030311055" sldId="260"/>
            <ac:spMk id="3" creationId="{5C10F967-D724-F8B0-F222-3F5A30601AAA}"/>
          </ac:spMkLst>
        </pc:spChg>
      </pc:sldChg>
      <pc:sldChg chg="addSp delSp modSp">
        <pc:chgData name="Hari Vishwa Naicker" userId="b0a120ab-4096-4d7c-ad0a-0703db5c9336" providerId="ADAL" clId="{4DDE1817-2C02-46EF-B55F-C346D21C243D}" dt="2026-07-16T19:55:41.934" v="2"/>
        <pc:sldMkLst>
          <pc:docMk/>
          <pc:sldMk cId="319637011" sldId="261"/>
        </pc:sldMkLst>
        <pc:spChg chg="del">
          <ac:chgData name="Hari Vishwa Naicker" userId="b0a120ab-4096-4d7c-ad0a-0703db5c9336" providerId="ADAL" clId="{4DDE1817-2C02-46EF-B55F-C346D21C243D}" dt="2026-07-16T19:19:20.474" v="0"/>
          <ac:spMkLst>
            <pc:docMk/>
            <pc:sldMk cId="319637011" sldId="261"/>
            <ac:spMk id="3" creationId="{77D87743-82FD-0891-2113-FEEDF10CB920}"/>
          </ac:spMkLst>
        </pc:spChg>
        <pc:picChg chg="add mod">
          <ac:chgData name="Hari Vishwa Naicker" userId="b0a120ab-4096-4d7c-ad0a-0703db5c9336" providerId="ADAL" clId="{4DDE1817-2C02-46EF-B55F-C346D21C243D}" dt="2026-07-16T19:19:20.474" v="0"/>
          <ac:picMkLst>
            <pc:docMk/>
            <pc:sldMk cId="319637011" sldId="261"/>
            <ac:picMk id="5" creationId="{F01AF65B-F59E-BA13-8FDD-037193262E8C}"/>
          </ac:picMkLst>
        </pc:picChg>
        <pc:picChg chg="add">
          <ac:chgData name="Hari Vishwa Naicker" userId="b0a120ab-4096-4d7c-ad0a-0703db5c9336" providerId="ADAL" clId="{4DDE1817-2C02-46EF-B55F-C346D21C243D}" dt="2026-07-16T19:53:05.683" v="1"/>
          <ac:picMkLst>
            <pc:docMk/>
            <pc:sldMk cId="319637011" sldId="261"/>
            <ac:picMk id="7" creationId="{385B0D80-006F-10B4-1DFD-521AC5542F08}"/>
          </ac:picMkLst>
        </pc:picChg>
        <pc:picChg chg="add">
          <ac:chgData name="Hari Vishwa Naicker" userId="b0a120ab-4096-4d7c-ad0a-0703db5c9336" providerId="ADAL" clId="{4DDE1817-2C02-46EF-B55F-C346D21C243D}" dt="2026-07-16T19:55:41.934" v="2"/>
          <ac:picMkLst>
            <pc:docMk/>
            <pc:sldMk cId="319637011" sldId="261"/>
            <ac:picMk id="9" creationId="{161EE78F-FC71-050D-AE5A-87518E0329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9992B-A26C-6A4B-AC27-2602734F286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CCFD4-A7F8-054B-8822-BC244B953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1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ex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7A4BE5-FE46-EA43-B6B0-450DE02CC3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blue/green box bottom">
            <a:extLst>
              <a:ext uri="{FF2B5EF4-FFF2-40B4-BE49-F238E27FC236}">
                <a16:creationId xmlns:a16="http://schemas.microsoft.com/office/drawing/2014/main" id="{01F9400E-D49A-AA40-B4BD-53F03EC31D76}"/>
              </a:ext>
            </a:extLst>
          </p:cNvPr>
          <p:cNvGrpSpPr/>
          <p:nvPr userDrawn="1"/>
        </p:nvGrpSpPr>
        <p:grpSpPr>
          <a:xfrm>
            <a:off x="0" y="5340350"/>
            <a:ext cx="12192000" cy="1517650"/>
            <a:chOff x="0" y="5340350"/>
            <a:chExt cx="12192000" cy="1517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04B8F3-C379-C04D-8634-1CDEC81586E2}"/>
                </a:ext>
              </a:extLst>
            </p:cNvPr>
            <p:cNvSpPr/>
            <p:nvPr userDrawn="1"/>
          </p:nvSpPr>
          <p:spPr bwMode="auto">
            <a:xfrm>
              <a:off x="0" y="5444519"/>
              <a:ext cx="12192000" cy="1413481"/>
            </a:xfrm>
            <a:prstGeom prst="rect">
              <a:avLst/>
            </a:prstGeom>
            <a:solidFill>
              <a:srgbClr val="07519E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3207E4-91BC-AB48-939F-AAC2AA29BF23}"/>
                </a:ext>
              </a:extLst>
            </p:cNvPr>
            <p:cNvSpPr/>
            <p:nvPr userDrawn="1"/>
          </p:nvSpPr>
          <p:spPr bwMode="auto">
            <a:xfrm>
              <a:off x="0" y="5340350"/>
              <a:ext cx="12192000" cy="104169"/>
            </a:xfrm>
            <a:prstGeom prst="rect">
              <a:avLst/>
            </a:prstGeom>
            <a:solidFill>
              <a:srgbClr val="8EC42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1DFF24A-6025-2847-8C93-29954BFB7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7144" y="1938829"/>
            <a:ext cx="9354855" cy="2292350"/>
          </a:xfrm>
          <a:prstGeom prst="rect">
            <a:avLst/>
          </a:prstGeom>
          <a:noFill/>
        </p:spPr>
        <p:txBody>
          <a:bodyPr wrap="square" lIns="365760" tIns="822960" rIns="1097280" bIns="822960"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525" indent="0">
              <a:buFontTx/>
              <a:buNone/>
              <a:tabLst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  <a:p>
            <a:pPr lvl="1"/>
            <a:r>
              <a:rPr lang="en-US" dirty="0"/>
              <a:t>Click to edit subtitle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45BFF713-8DD6-6843-86C3-2D1862E3CA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0142" y="273297"/>
            <a:ext cx="2541981" cy="1392237"/>
          </a:xfrm>
          <a:effectLst/>
        </p:spPr>
        <p:txBody>
          <a:bodyPr lIns="0" rIns="0" bIns="0" anchor="b" anchorCtr="0">
            <a:noAutofit/>
          </a:bodyPr>
          <a:lstStyle>
            <a:lvl1pPr marL="7938" indent="0">
              <a:buFontTx/>
              <a:buNone/>
              <a:tabLst/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2pPr>
            <a:lvl3pPr marL="7938" indent="0">
              <a:buFontTx/>
              <a:buNone/>
              <a:tabLst/>
              <a:defRPr sz="16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4pPr>
            <a:lvl5pPr marL="1828800" indent="0">
              <a:buFontTx/>
              <a:buNone/>
              <a:defRPr b="0" i="0">
                <a:solidFill>
                  <a:schemeClr val="bg1"/>
                </a:solidFill>
                <a:latin typeface="Myriad Pro Cond" panose="020B0506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50FBC-21D2-57A0-083B-AF225C0F1A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4279" y="5913998"/>
            <a:ext cx="5842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8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19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4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6D6083-77A6-334A-8C7F-A5F18D4F5F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213" y="1739901"/>
            <a:ext cx="10415587" cy="432752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3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ul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365512-1A58-B241-838D-EFAB0E25F8AF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89965-9C98-C446-B0C8-8151A52702B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DAHO NATIONAL LABORATORY">
            <a:extLst>
              <a:ext uri="{FF2B5EF4-FFF2-40B4-BE49-F238E27FC236}">
                <a16:creationId xmlns:a16="http://schemas.microsoft.com/office/drawing/2014/main" id="{C9B294FD-1F7F-4240-B2BD-1DD570DF2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5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40345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8150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810270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50" y="1739901"/>
            <a:ext cx="5013454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5329EE-4FB4-5A4D-AB92-8FB39F6378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72149" y="1739901"/>
            <a:ext cx="5081650" cy="42070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9232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EC5EE-7A70-7D44-877F-2A9D26623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199123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FBD4CC-FEFF-654C-B1A3-229DA69D10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39247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Box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6444-081A-D54B-830B-A94153C0EF1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8149" y="1739901"/>
            <a:ext cx="6704153" cy="420704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EB56D-A175-2340-8316-CB2D73FC70C2}"/>
              </a:ext>
            </a:extLst>
          </p:cNvPr>
          <p:cNvSpPr/>
          <p:nvPr userDrawn="1"/>
        </p:nvSpPr>
        <p:spPr>
          <a:xfrm>
            <a:off x="8465770" y="-1"/>
            <a:ext cx="3726230" cy="62377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EB60818-A426-D644-9EEA-D2FB1CBDFB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71283" y="522288"/>
            <a:ext cx="29196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0018A3-14FE-A04B-A3B4-D9AA55483B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1" y="558602"/>
            <a:ext cx="6704151" cy="1005229"/>
          </a:xfrm>
        </p:spPr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(2 lines max)</a:t>
            </a:r>
          </a:p>
        </p:txBody>
      </p:sp>
    </p:spTree>
    <p:extLst>
      <p:ext uri="{BB962C8B-B14F-4D97-AF65-F5344CB8AC3E}">
        <p14:creationId xmlns:p14="http://schemas.microsoft.com/office/powerpoint/2010/main" val="546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Blue Box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CB96BB-242F-BC47-80BF-E45DB97245BA}"/>
              </a:ext>
            </a:extLst>
          </p:cNvPr>
          <p:cNvSpPr/>
          <p:nvPr userDrawn="1"/>
        </p:nvSpPr>
        <p:spPr>
          <a:xfrm>
            <a:off x="6843714" y="0"/>
            <a:ext cx="5346699" cy="62377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FA9CB-507A-AA48-963A-8D5E37B7CF5B}"/>
              </a:ext>
            </a:extLst>
          </p:cNvPr>
          <p:cNvSpPr/>
          <p:nvPr userDrawn="1"/>
        </p:nvSpPr>
        <p:spPr>
          <a:xfrm>
            <a:off x="0" y="6335712"/>
            <a:ext cx="12192000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9016F-99B0-6B40-B3F7-87F0068FC0E5}"/>
              </a:ext>
            </a:extLst>
          </p:cNvPr>
          <p:cNvSpPr/>
          <p:nvPr userDrawn="1"/>
        </p:nvSpPr>
        <p:spPr>
          <a:xfrm>
            <a:off x="0" y="6237795"/>
            <a:ext cx="12192000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DAHO NATIONAL LABORATORY">
            <a:extLst>
              <a:ext uri="{FF2B5EF4-FFF2-40B4-BE49-F238E27FC236}">
                <a16:creationId xmlns:a16="http://schemas.microsoft.com/office/drawing/2014/main" id="{BD942965-6C07-5D4A-809D-5FC754D590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14" name="Title Placeholder BIG box blue right">
            <a:extLst>
              <a:ext uri="{FF2B5EF4-FFF2-40B4-BE49-F238E27FC236}">
                <a16:creationId xmlns:a16="http://schemas.microsoft.com/office/drawing/2014/main" id="{AB7EA1D9-8A57-3143-9688-4BB8599F98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0063" y="0"/>
            <a:ext cx="5340350" cy="907549"/>
          </a:xfrm>
          <a:prstGeom prst="rect">
            <a:avLst/>
          </a:prstGeom>
          <a:noFill/>
        </p:spPr>
        <p:txBody>
          <a:bodyPr lIns="274320" tIns="365760" rIns="274320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box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38B584E-1ECA-5646-9DA7-61B8110256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6947" y="1064712"/>
            <a:ext cx="4598987" cy="4515349"/>
          </a:xfrm>
          <a:prstGeom prst="rect">
            <a:avLst/>
          </a:prstGeom>
        </p:spPr>
        <p:txBody>
          <a:bodyPr lIns="0">
            <a:normAutofit/>
          </a:bodyPr>
          <a:lstStyle>
            <a:lvl1pPr marL="347663" indent="-3429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bullet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218-371C-0D41-97AF-B220A81F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462E5-D969-3443-B549-CE7B6CC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BC785-2799-4146-A523-CFA98FE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">
            <a:extLst>
              <a:ext uri="{FF2B5EF4-FFF2-40B4-BE49-F238E27FC236}">
                <a16:creationId xmlns:a16="http://schemas.microsoft.com/office/drawing/2014/main" id="{6EF42CC7-103E-EA4C-89A2-543032DA3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843714" cy="6228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photo icon below to insert picture</a:t>
            </a:r>
            <a:br>
              <a:rPr lang="en-US" dirty="0"/>
            </a:br>
            <a:r>
              <a:rPr lang="en-US" dirty="0"/>
              <a:t>(if replacing picture, you will have to reset your crop area)</a:t>
            </a:r>
          </a:p>
        </p:txBody>
      </p:sp>
    </p:spTree>
    <p:extLst>
      <p:ext uri="{BB962C8B-B14F-4D97-AF65-F5344CB8AC3E}">
        <p14:creationId xmlns:p14="http://schemas.microsoft.com/office/powerpoint/2010/main" val="389007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992-890C-EC4B-B676-6CCEF133B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150" y="1709738"/>
            <a:ext cx="10409299" cy="2852737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303FD-B916-FD4E-85C2-3EBF655BC1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8150" y="4589463"/>
            <a:ext cx="104093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FDE18-9616-B043-9C71-522DAD29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FF7A-5905-EB40-919B-9225D08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509E-6005-DB4B-9578-84532E5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2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1739901"/>
            <a:ext cx="5081650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1739901"/>
            <a:ext cx="5081651" cy="4351338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20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0D34-E50C-7946-9657-29EA34F401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  <a:br>
              <a:rPr lang="en-US" dirty="0"/>
            </a:br>
            <a:r>
              <a:rPr lang="en-US" dirty="0"/>
              <a:t>(Reduce font for title longer than 2 lines)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FB48-1F38-8C46-B4B3-0871CA9880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938150" y="2412999"/>
            <a:ext cx="5081650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F5AB-BF51-4044-8164-B8ADFB34B0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72148" y="2412999"/>
            <a:ext cx="5081651" cy="37639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3E568-D8E9-CE46-B564-4CAF0B6E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D4A3B-E186-AB40-96C6-355AF9A6FE76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C80FD-FB7C-F246-A242-07AFCB29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BDEBE-950D-C343-A00C-8D9FA1E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77FA-F7D9-2C48-919F-F962E3BF952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2D795B-85F6-1F49-922A-F4131787307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38213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4E34B4F-F908-104C-90F3-5135E2E8C7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70625" y="1589087"/>
            <a:ext cx="5081587" cy="766763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 2 </a:t>
            </a:r>
          </a:p>
        </p:txBody>
      </p:sp>
    </p:spTree>
    <p:extLst>
      <p:ext uri="{BB962C8B-B14F-4D97-AF65-F5344CB8AC3E}">
        <p14:creationId xmlns:p14="http://schemas.microsoft.com/office/powerpoint/2010/main" val="1790085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ta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07">
            <a:extLst>
              <a:ext uri="{FF2B5EF4-FFF2-40B4-BE49-F238E27FC236}">
                <a16:creationId xmlns:a16="http://schemas.microsoft.com/office/drawing/2014/main" id="{4647A912-5093-6043-8161-0D98167F2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336550"/>
            <a:ext cx="12192000" cy="6858000"/>
          </a:xfrm>
          <a:prstGeom prst="rect">
            <a:avLst/>
          </a:prstGeom>
        </p:spPr>
      </p:pic>
      <p:grpSp>
        <p:nvGrpSpPr>
          <p:cNvPr id="11" name="Bottom Bar">
            <a:extLst>
              <a:ext uri="{FF2B5EF4-FFF2-40B4-BE49-F238E27FC236}">
                <a16:creationId xmlns:a16="http://schemas.microsoft.com/office/drawing/2014/main" id="{DC935C4B-E372-E04B-8493-E90A79CBC7F4}"/>
              </a:ext>
            </a:extLst>
          </p:cNvPr>
          <p:cNvGrpSpPr/>
          <p:nvPr userDrawn="1"/>
        </p:nvGrpSpPr>
        <p:grpSpPr>
          <a:xfrm>
            <a:off x="0" y="6247747"/>
            <a:ext cx="12192000" cy="610252"/>
            <a:chOff x="0" y="6247747"/>
            <a:chExt cx="12192000" cy="6102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574F32-F3B5-224E-B6D3-DC767B30A5BE}"/>
                </a:ext>
              </a:extLst>
            </p:cNvPr>
            <p:cNvSpPr/>
            <p:nvPr/>
          </p:nvSpPr>
          <p:spPr>
            <a:xfrm>
              <a:off x="0" y="6334125"/>
              <a:ext cx="12192000" cy="5238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EE050A-3114-2641-96C8-48D281A062A0}"/>
                </a:ext>
              </a:extLst>
            </p:cNvPr>
            <p:cNvSpPr/>
            <p:nvPr/>
          </p:nvSpPr>
          <p:spPr>
            <a:xfrm>
              <a:off x="0" y="6247747"/>
              <a:ext cx="12192000" cy="863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F59F24B-A93D-B046-B78A-2C31137D1AC5}"/>
              </a:ext>
            </a:extLst>
          </p:cNvPr>
          <p:cNvSpPr txBox="1"/>
          <p:nvPr userDrawn="1"/>
        </p:nvSpPr>
        <p:spPr>
          <a:xfrm>
            <a:off x="2872408" y="5178483"/>
            <a:ext cx="644718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Battelle Energy Alliance manages INL for the U.S. Department of Energy’s Office of Nuclear Energy.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INL is the nation’s center for nuclear energy research and development, and also performs research </a:t>
            </a:r>
            <a:br>
              <a:rPr lang="en-US" sz="105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050" i="1" dirty="0">
                <a:solidFill>
                  <a:schemeClr val="bg1">
                    <a:lumMod val="65000"/>
                  </a:schemeClr>
                </a:solidFill>
              </a:rPr>
              <a:t>in each of DOE’s strategic goal areas: energy, national security, science and the environment.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Web Address">
            <a:extLst>
              <a:ext uri="{FF2B5EF4-FFF2-40B4-BE49-F238E27FC236}">
                <a16:creationId xmlns:a16="http://schemas.microsoft.com/office/drawing/2014/main" id="{53FCC0DF-9440-B040-A076-DF507B404D83}"/>
              </a:ext>
            </a:extLst>
          </p:cNvPr>
          <p:cNvSpPr txBox="1"/>
          <p:nvPr userDrawn="1"/>
        </p:nvSpPr>
        <p:spPr>
          <a:xfrm>
            <a:off x="4100945" y="6417425"/>
            <a:ext cx="399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600" dirty="0">
                <a:solidFill>
                  <a:schemeClr val="bg1">
                    <a:alpha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WWW.INL.GOV</a:t>
            </a:r>
          </a:p>
        </p:txBody>
      </p:sp>
    </p:spTree>
    <p:extLst>
      <p:ext uri="{BB962C8B-B14F-4D97-AF65-F5344CB8AC3E}">
        <p14:creationId xmlns:p14="http://schemas.microsoft.com/office/powerpoint/2010/main" val="118252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B3FEC5-4760-DC48-B91E-CFC0C33F63A9}"/>
              </a:ext>
            </a:extLst>
          </p:cNvPr>
          <p:cNvSpPr/>
          <p:nvPr userDrawn="1"/>
        </p:nvSpPr>
        <p:spPr>
          <a:xfrm>
            <a:off x="8465769" y="6335712"/>
            <a:ext cx="3726231" cy="5222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EAE68D-24FC-6749-A309-042231DB68DA}"/>
              </a:ext>
            </a:extLst>
          </p:cNvPr>
          <p:cNvSpPr/>
          <p:nvPr userDrawn="1"/>
        </p:nvSpPr>
        <p:spPr>
          <a:xfrm>
            <a:off x="8465769" y="6237795"/>
            <a:ext cx="3726231" cy="979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DAHO NATIONAL LABORATORY">
            <a:extLst>
              <a:ext uri="{FF2B5EF4-FFF2-40B4-BE49-F238E27FC236}">
                <a16:creationId xmlns:a16="http://schemas.microsoft.com/office/drawing/2014/main" id="{C491F914-E346-2146-A51D-D37D67DBC11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4584" y="6543675"/>
            <a:ext cx="2768600" cy="127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2502A-5BF2-8845-923F-AAF24377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151" y="558602"/>
            <a:ext cx="10415648" cy="1008797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B4A4D-34FE-994A-AFE8-DCF682312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150" y="1739901"/>
            <a:ext cx="10415649" cy="435133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CF24-C629-E54C-BA9B-20518F01F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1" y="6492875"/>
            <a:ext cx="1546302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l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7CD4A3B-E186-AB40-96C6-355AF9A6FE76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4D85-E219-4F49-88C8-4DC17F06D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8150" y="6492875"/>
            <a:ext cx="5060066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7F2A8-2F01-4745-8AFB-4EEC8D27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5020" y="6492875"/>
            <a:ext cx="434428" cy="365125"/>
          </a:xfrm>
          <a:prstGeom prst="rect">
            <a:avLst/>
          </a:prstGeom>
        </p:spPr>
        <p:txBody>
          <a:bodyPr vert="horz" lIns="91440" tIns="45720" rIns="91440" bIns="155448" rtlCol="0" anchor="ctr"/>
          <a:lstStyle>
            <a:lvl1pPr algn="ctr">
              <a:defRPr sz="1000" b="1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B577FA-F7D9-2C48-919F-F962E3BF952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blue/green box top">
            <a:extLst>
              <a:ext uri="{FF2B5EF4-FFF2-40B4-BE49-F238E27FC236}">
                <a16:creationId xmlns:a16="http://schemas.microsoft.com/office/drawing/2014/main" id="{2FE8E780-1DE8-B245-8215-3ECC2513C073}"/>
              </a:ext>
            </a:extLst>
          </p:cNvPr>
          <p:cNvGrpSpPr/>
          <p:nvPr userDrawn="1"/>
        </p:nvGrpSpPr>
        <p:grpSpPr>
          <a:xfrm>
            <a:off x="0" y="522288"/>
            <a:ext cx="744467" cy="547190"/>
            <a:chOff x="0" y="711956"/>
            <a:chExt cx="3721100" cy="62020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A2A1D5-CB4B-1A40-8711-4F412AA9927B}"/>
                </a:ext>
              </a:extLst>
            </p:cNvPr>
            <p:cNvSpPr/>
            <p:nvPr userDrawn="1"/>
          </p:nvSpPr>
          <p:spPr>
            <a:xfrm rot="10800000">
              <a:off x="0" y="711956"/>
              <a:ext cx="3721100" cy="52228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B5F476-DD08-5B45-A331-21193BD3472A}"/>
                </a:ext>
              </a:extLst>
            </p:cNvPr>
            <p:cNvSpPr/>
            <p:nvPr userDrawn="1"/>
          </p:nvSpPr>
          <p:spPr>
            <a:xfrm rot="10800000">
              <a:off x="0" y="1234244"/>
              <a:ext cx="3721100" cy="97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516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4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10" r:id="rId8"/>
    <p:sldLayoutId id="2147483711" r:id="rId9"/>
    <p:sldLayoutId id="2147483712" r:id="rId10"/>
    <p:sldLayoutId id="2147483713" r:id="rId11"/>
    <p:sldLayoutId id="2147483695" r:id="rId12"/>
    <p:sldLayoutId id="2147483696" r:id="rId13"/>
    <p:sldLayoutId id="2147483709" r:id="rId14"/>
    <p:sldLayoutId id="214748371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−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2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2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FFBDF4-D027-5540-A4D0-49BD3CCE65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Python Integration with NCFL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FA6BA-7AEF-C349-A828-FB83B670B5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400" b="0" dirty="0"/>
              <a:t>July 17, 2026</a:t>
            </a:r>
          </a:p>
          <a:p>
            <a:pPr>
              <a:spcBef>
                <a:spcPts val="2000"/>
              </a:spcBef>
            </a:pPr>
            <a:r>
              <a:rPr lang="en-US" dirty="0"/>
              <a:t>Hari Naicker</a:t>
            </a:r>
          </a:p>
          <a:p>
            <a:pPr>
              <a:spcBef>
                <a:spcPts val="500"/>
              </a:spcBef>
            </a:pPr>
            <a:r>
              <a:rPr lang="en-US" b="0" dirty="0"/>
              <a:t>Biweekly Meeting Recap</a:t>
            </a:r>
          </a:p>
        </p:txBody>
      </p:sp>
    </p:spTree>
    <p:extLst>
      <p:ext uri="{BB962C8B-B14F-4D97-AF65-F5344CB8AC3E}">
        <p14:creationId xmlns:p14="http://schemas.microsoft.com/office/powerpoint/2010/main" val="166599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3701-5DFC-A845-ABEE-258D0E31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NCFL </a:t>
            </a:r>
            <a:r>
              <a:rPr lang="en-US" dirty="0" err="1"/>
              <a:t>Dymola</a:t>
            </a:r>
            <a:r>
              <a:rPr lang="en-US" dirty="0"/>
              <a:t> Model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3E1C6-BA43-104A-8ACE-1179C840E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151" y="1739901"/>
            <a:ext cx="5157850" cy="4351338"/>
          </a:xfrm>
        </p:spPr>
        <p:txBody>
          <a:bodyPr/>
          <a:lstStyle/>
          <a:p>
            <a:r>
              <a:rPr lang="en-US" dirty="0"/>
              <a:t>Modular design with swappable CS</a:t>
            </a:r>
          </a:p>
          <a:p>
            <a:r>
              <a:rPr lang="en-US" dirty="0"/>
              <a:t>Modelled all components</a:t>
            </a:r>
          </a:p>
          <a:p>
            <a:pPr lvl="1"/>
            <a:r>
              <a:rPr lang="en-US" dirty="0"/>
              <a:t>Jet pump</a:t>
            </a:r>
          </a:p>
          <a:p>
            <a:pPr lvl="1"/>
            <a:r>
              <a:rPr lang="en-US" dirty="0"/>
              <a:t>Top and bottom valves</a:t>
            </a:r>
          </a:p>
          <a:p>
            <a:r>
              <a:rPr lang="en-US" dirty="0"/>
              <a:t>Implemented multiple cases studies to verify with experimental data</a:t>
            </a:r>
          </a:p>
          <a:p>
            <a:r>
              <a:rPr lang="en-US" dirty="0"/>
              <a:t>Confirmed natural circulation worked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4D5D8-0343-F402-1CC3-1571BF00B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240" y="125912"/>
            <a:ext cx="2606699" cy="22886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D7C11F-350A-9D5E-9723-4D5EE27B6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383" y="2537361"/>
            <a:ext cx="3636556" cy="351825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C5E7E-1851-7C35-6251-5D3608852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63" y="4461290"/>
            <a:ext cx="2817950" cy="214337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00AA4F-0397-1F34-2802-1F969D494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468" y="4461290"/>
            <a:ext cx="1812968" cy="21842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193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6055-D5BF-ECE5-C95C-01BE9D8C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References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1AF65B-F59E-BA13-8FDD-037193262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307" y="1246909"/>
            <a:ext cx="3145376" cy="235903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5B0D80-006F-10B4-1DFD-521AC5542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286" y="1246908"/>
            <a:ext cx="3145377" cy="235903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1EE78F-FC71-050D-AE5A-87518E032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818" y="1246909"/>
            <a:ext cx="3165939" cy="237445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6B091B-CD0C-B0E2-CA7D-62198A300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901" y="3677790"/>
            <a:ext cx="2588187" cy="266323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99ABA3-4410-EF28-1EB0-E7C9B256E6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1880" y="3669026"/>
            <a:ext cx="2588187" cy="268076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BCD014-83B4-7647-A619-66590BA7D5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9214" y="3677790"/>
            <a:ext cx="2621145" cy="27086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63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30D2-79DE-C325-051A-F5340C0F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Integration with NCFL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9C2A-4FBE-6C19-9873-6A281E603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a script to run the NCFL modular file</a:t>
            </a:r>
          </a:p>
          <a:p>
            <a:r>
              <a:rPr lang="en-US" dirty="0"/>
              <a:t>Any variable values can be changed in the Python file</a:t>
            </a:r>
          </a:p>
          <a:p>
            <a:r>
              <a:rPr lang="en-US" dirty="0"/>
              <a:t>Overseeing structures such as the control system can also be modified in the Python interface</a:t>
            </a:r>
          </a:p>
          <a:p>
            <a:r>
              <a:rPr lang="en-US" dirty="0"/>
              <a:t>Started setting up HPC integration to run multiple runs, like what Nick did</a:t>
            </a:r>
          </a:p>
          <a:p>
            <a:r>
              <a:rPr lang="en-US" dirty="0"/>
              <a:t>Have started learning more about sensitivity studies such as the Morris analysis done on the HITB</a:t>
            </a:r>
          </a:p>
          <a:p>
            <a:r>
              <a:rPr lang="en-US" dirty="0"/>
              <a:t>Future work:</a:t>
            </a:r>
          </a:p>
          <a:p>
            <a:pPr lvl="1"/>
            <a:r>
              <a:rPr lang="en-US" dirty="0"/>
              <a:t>Running into issues not previously encountered with Docker access</a:t>
            </a:r>
          </a:p>
          <a:p>
            <a:pPr lvl="2"/>
            <a:r>
              <a:rPr lang="en-US" dirty="0" err="1"/>
              <a:t>PostgresSQL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 stream reconstruction</a:t>
            </a:r>
          </a:p>
          <a:p>
            <a:pPr lvl="2"/>
            <a:r>
              <a:rPr lang="en-US" dirty="0"/>
              <a:t>Still trying to understand how the code is structured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0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921924"/>
      </p:ext>
    </p:extLst>
  </p:cSld>
  <p:clrMapOvr>
    <a:masterClrMapping/>
  </p:clrMapOvr>
</p:sld>
</file>

<file path=ppt/theme/theme1.xml><?xml version="1.0" encoding="utf-8"?>
<a:theme xmlns:a="http://schemas.openxmlformats.org/drawingml/2006/main" name="INL 2020">
  <a:themeElements>
    <a:clrScheme name="INL 2020">
      <a:dk1>
        <a:srgbClr val="000000"/>
      </a:dk1>
      <a:lt1>
        <a:srgbClr val="FFFFFF"/>
      </a:lt1>
      <a:dk2>
        <a:srgbClr val="06509D"/>
      </a:dk2>
      <a:lt2>
        <a:srgbClr val="2CA8E1"/>
      </a:lt2>
      <a:accent1>
        <a:srgbClr val="8EC423"/>
      </a:accent1>
      <a:accent2>
        <a:srgbClr val="2CA8E1"/>
      </a:accent2>
      <a:accent3>
        <a:srgbClr val="832369"/>
      </a:accent3>
      <a:accent4>
        <a:srgbClr val="CF1D4C"/>
      </a:accent4>
      <a:accent5>
        <a:srgbClr val="F78E20"/>
      </a:accent5>
      <a:accent6>
        <a:srgbClr val="59595C"/>
      </a:accent6>
      <a:hlink>
        <a:srgbClr val="7F7F7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L_2022_hexLight_wide-WEB" id="{02E20BC5-FEDE-CE44-9BE4-1CE6CB29BA3D}" vid="{E4378662-F895-C340-BA33-6EA5E69E43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391d807-f94f-4c4f-bb14-493106c624c2">
      <UserInfo>
        <DisplayName/>
        <AccountId xsi:nil="true"/>
        <AccountType/>
      </UserInfo>
    </SharedWithUsers>
    <TaxCatchAll xmlns="42ea9b75-b306-4826-8769-4c6ad6718b67" xsi:nil="true"/>
    <lcf76f155ced4ddcb4097134ff3c332f xmlns="2391d807-f94f-4c4f-bb14-493106c624c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3797F432E2A042A124C0139981475A" ma:contentTypeVersion="14" ma:contentTypeDescription="Create a new document." ma:contentTypeScope="" ma:versionID="f98a91b6c1e71bbba55439f0a80a0573">
  <xsd:schema xmlns:xsd="http://www.w3.org/2001/XMLSchema" xmlns:xs="http://www.w3.org/2001/XMLSchema" xmlns:p="http://schemas.microsoft.com/office/2006/metadata/properties" xmlns:ns2="2391d807-f94f-4c4f-bb14-493106c624c2" xmlns:ns3="42ea9b75-b306-4826-8769-4c6ad6718b67" targetNamespace="http://schemas.microsoft.com/office/2006/metadata/properties" ma:root="true" ma:fieldsID="e10204a60157ce1d68d66ae7a68b8f6a" ns2:_="" ns3:_="">
    <xsd:import namespace="2391d807-f94f-4c4f-bb14-493106c624c2"/>
    <xsd:import namespace="42ea9b75-b306-4826-8769-4c6ad6718b6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91d807-f94f-4c4f-bb14-493106c624c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list="UserInfo" ma:SearchPeopleOnly="false" ma:internalName="SharedWithUsers" ma:readOnly="fals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10" nillable="true" ma:taxonomy="true" ma:internalName="lcf76f155ced4ddcb4097134ff3c332f" ma:taxonomyFieldName="MediaServiceImageTags" ma:displayName="Image Tags" ma:readOnly="false" ma:fieldId="{5cf76f15-5ced-4ddc-b409-7134ff3c332f}" ma:taxonomyMulti="true" ma:sspId="0b78db39-37aa-4e28-bb7e-9642684d42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ea9b75-b306-4826-8769-4c6ad6718b67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2721504a-65bf-41e8-8385-5761431a3c1d}" ma:internalName="TaxCatchAll" ma:showField="CatchAllData" ma:web="42ea9b75-b306-4826-8769-4c6ad6718b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987B27-07C2-425E-9FC8-8EB9D2FCBB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E72521-46AD-4BAF-8AA5-1067FA401909}">
  <ds:schemaRefs>
    <ds:schemaRef ds:uri="http://schemas.microsoft.com/office/2006/metadata/properties"/>
    <ds:schemaRef ds:uri="http://schemas.microsoft.com/office/infopath/2007/PartnerControls"/>
    <ds:schemaRef ds:uri="2391d807-f94f-4c4f-bb14-493106c624c2"/>
    <ds:schemaRef ds:uri="42ea9b75-b306-4826-8769-4c6ad6718b67"/>
  </ds:schemaRefs>
</ds:datastoreItem>
</file>

<file path=customXml/itemProps3.xml><?xml version="1.0" encoding="utf-8"?>
<ds:datastoreItem xmlns:ds="http://schemas.openxmlformats.org/officeDocument/2006/customXml" ds:itemID="{E158C39C-6B2B-46C8-8FF5-4FF701DE8E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91d807-f94f-4c4f-bb14-493106c624c2"/>
    <ds:schemaRef ds:uri="42ea9b75-b306-4826-8769-4c6ad6718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INL_2022_hexLight_wide_template</Template>
  <TotalTime>1376</TotalTime>
  <Words>139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Narrow</vt:lpstr>
      <vt:lpstr>Calibri</vt:lpstr>
      <vt:lpstr>Myriad Pro Cond</vt:lpstr>
      <vt:lpstr>Times New Roman</vt:lpstr>
      <vt:lpstr>INL 2020</vt:lpstr>
      <vt:lpstr>PowerPoint Presentation</vt:lpstr>
      <vt:lpstr>NCFL Dymola Model update</vt:lpstr>
      <vt:lpstr>Simulation References</vt:lpstr>
      <vt:lpstr>Python Integration with NCFL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 Vishwa Naicker</dc:creator>
  <cp:keywords/>
  <dc:description/>
  <cp:lastModifiedBy>Hari Vishwa Naicker</cp:lastModifiedBy>
  <cp:revision>1</cp:revision>
  <dcterms:created xsi:type="dcterms:W3CDTF">2026-07-16T16:30:33Z</dcterms:created>
  <dcterms:modified xsi:type="dcterms:W3CDTF">2026-07-17T15:40:00Z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0x010100803797F432E2A042A124C0139981475A</vt:lpwstr>
  </property>
  <property fmtid="{D5CDD505-2E9C-101B-9397-08002B2CF9AE}" pid="3" name="Order">
    <vt:r8>73000</vt:r8>
  </property>
</Properties>
</file>