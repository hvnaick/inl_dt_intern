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92" r:id="rId4"/>
  </p:sldMasterIdLst>
  <p:notesMasterIdLst>
    <p:notesMasterId r:id="rId21"/>
  </p:notesMasterIdLst>
  <p:sldIdLst>
    <p:sldId id="256" r:id="rId5"/>
    <p:sldId id="257" r:id="rId6"/>
    <p:sldId id="260" r:id="rId7"/>
    <p:sldId id="259" r:id="rId8"/>
    <p:sldId id="262" r:id="rId9"/>
    <p:sldId id="263" r:id="rId10"/>
    <p:sldId id="269" r:id="rId11"/>
    <p:sldId id="270" r:id="rId12"/>
    <p:sldId id="264" r:id="rId13"/>
    <p:sldId id="266" r:id="rId14"/>
    <p:sldId id="265" r:id="rId15"/>
    <p:sldId id="267" r:id="rId16"/>
    <p:sldId id="258" r:id="rId17"/>
    <p:sldId id="271" r:id="rId18"/>
    <p:sldId id="272" r:id="rId19"/>
    <p:sldId id="273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7519E"/>
    <a:srgbClr val="2DA9E1"/>
    <a:srgbClr val="1C3665"/>
    <a:srgbClr val="8EC4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208" autoAdjust="0"/>
    <p:restoredTop sz="94694"/>
  </p:normalViewPr>
  <p:slideViewPr>
    <p:cSldViewPr snapToGrid="0" snapToObjects="1">
      <p:cViewPr>
        <p:scale>
          <a:sx n="150" d="100"/>
          <a:sy n="150" d="100"/>
        </p:scale>
        <p:origin x="1380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09992B-A26C-6A4B-AC27-2602734F2866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0CCFD4-A7F8-054B-8822-BC244B9535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01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Hex_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77A4BE5-FE46-EA43-B6B0-450DE02CC3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3" name="blue/green box bottom">
            <a:extLst>
              <a:ext uri="{FF2B5EF4-FFF2-40B4-BE49-F238E27FC236}">
                <a16:creationId xmlns:a16="http://schemas.microsoft.com/office/drawing/2014/main" id="{01F9400E-D49A-AA40-B4BD-53F03EC31D76}"/>
              </a:ext>
            </a:extLst>
          </p:cNvPr>
          <p:cNvGrpSpPr/>
          <p:nvPr userDrawn="1"/>
        </p:nvGrpSpPr>
        <p:grpSpPr>
          <a:xfrm>
            <a:off x="0" y="5340350"/>
            <a:ext cx="12192000" cy="1517650"/>
            <a:chOff x="0" y="5340350"/>
            <a:chExt cx="12192000" cy="15176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04B8F3-C379-C04D-8634-1CDEC81586E2}"/>
                </a:ext>
              </a:extLst>
            </p:cNvPr>
            <p:cNvSpPr/>
            <p:nvPr userDrawn="1"/>
          </p:nvSpPr>
          <p:spPr bwMode="auto">
            <a:xfrm>
              <a:off x="0" y="5444519"/>
              <a:ext cx="12192000" cy="1413481"/>
            </a:xfrm>
            <a:prstGeom prst="rect">
              <a:avLst/>
            </a:prstGeom>
            <a:solidFill>
              <a:srgbClr val="07519E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03207E4-91BC-AB48-939F-AAC2AA29BF23}"/>
                </a:ext>
              </a:extLst>
            </p:cNvPr>
            <p:cNvSpPr/>
            <p:nvPr userDrawn="1"/>
          </p:nvSpPr>
          <p:spPr bwMode="auto">
            <a:xfrm>
              <a:off x="0" y="5340350"/>
              <a:ext cx="12192000" cy="104169"/>
            </a:xfrm>
            <a:prstGeom prst="rect">
              <a:avLst/>
            </a:prstGeom>
            <a:solidFill>
              <a:srgbClr val="8EC423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1DFF24A-6025-2847-8C93-29954BFB7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37144" y="1938829"/>
            <a:ext cx="9354855" cy="2292350"/>
          </a:xfrm>
          <a:prstGeom prst="rect">
            <a:avLst/>
          </a:prstGeom>
          <a:noFill/>
        </p:spPr>
        <p:txBody>
          <a:bodyPr wrap="square" lIns="365760" tIns="822960" rIns="1097280" bIns="822960" anchor="ctr" anchorCtr="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3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525" indent="0">
              <a:buFontTx/>
              <a:buNone/>
              <a:tabLst/>
              <a:defRPr sz="2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title</a:t>
            </a:r>
          </a:p>
          <a:p>
            <a:pPr lvl="1"/>
            <a:r>
              <a:rPr lang="en-US" dirty="0"/>
              <a:t>Click to edit subtitle</a:t>
            </a:r>
          </a:p>
        </p:txBody>
      </p:sp>
      <p:sp>
        <p:nvSpPr>
          <p:cNvPr id="14" name="Text Placeholder 46">
            <a:extLst>
              <a:ext uri="{FF2B5EF4-FFF2-40B4-BE49-F238E27FC236}">
                <a16:creationId xmlns:a16="http://schemas.microsoft.com/office/drawing/2014/main" id="{45BFF713-8DD6-6843-86C3-2D1862E3CA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0142" y="273297"/>
            <a:ext cx="2541981" cy="1392237"/>
          </a:xfrm>
          <a:effectLst/>
        </p:spPr>
        <p:txBody>
          <a:bodyPr lIns="0" rIns="0" bIns="0" anchor="b" anchorCtr="0">
            <a:noAutofit/>
          </a:bodyPr>
          <a:lstStyle>
            <a:lvl1pPr marL="7938" indent="0">
              <a:buFontTx/>
              <a:buNone/>
              <a:tabLst/>
              <a:defRPr sz="1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2pPr>
            <a:lvl3pPr marL="7938" indent="0">
              <a:buFontTx/>
              <a:buNone/>
              <a:tabLst/>
              <a:defRPr sz="16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4pPr>
            <a:lvl5pPr marL="18288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150FBC-21D2-57A0-083B-AF225C0F1AD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04279" y="5913998"/>
            <a:ext cx="58420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  <p15:guide id="3" orient="horz" pos="1920">
          <p15:clr>
            <a:srgbClr val="FBAE40"/>
          </p15:clr>
        </p15:guide>
        <p15:guide id="4" pos="53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193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340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E6D6083-77A6-334A-8C7F-A5F18D4F5F8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213" y="1739901"/>
            <a:ext cx="10415587" cy="432752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2"/>
              </a:buClr>
              <a:buSzTx/>
              <a:buFontTx/>
              <a:buNone/>
              <a:tabLst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134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659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40345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150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810270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50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2149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9232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991234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EFBD4CC-FEFF-654C-B1A3-229DA69D10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3924736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80018A3-14FE-A04B-A3B4-D9AA55483B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5465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Blue Box Bulle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2CB96BB-242F-BC47-80BF-E45DB97245BA}"/>
              </a:ext>
            </a:extLst>
          </p:cNvPr>
          <p:cNvSpPr/>
          <p:nvPr userDrawn="1"/>
        </p:nvSpPr>
        <p:spPr>
          <a:xfrm>
            <a:off x="6843714" y="0"/>
            <a:ext cx="5346699" cy="62377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2FA9CB-507A-AA48-963A-8D5E37B7CF5B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79016F-99B0-6B40-B3F7-87F0068FC0E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IDAHO NATIONAL LABORATORY">
            <a:extLst>
              <a:ext uri="{FF2B5EF4-FFF2-40B4-BE49-F238E27FC236}">
                <a16:creationId xmlns:a16="http://schemas.microsoft.com/office/drawing/2014/main" id="{BD942965-6C07-5D4A-809D-5FC754D5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14" name="Title Placeholder BIG box blue right">
            <a:extLst>
              <a:ext uri="{FF2B5EF4-FFF2-40B4-BE49-F238E27FC236}">
                <a16:creationId xmlns:a16="http://schemas.microsoft.com/office/drawing/2014/main" id="{AB7EA1D9-8A57-3143-9688-4BB8599F98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0063" y="0"/>
            <a:ext cx="5340350" cy="907549"/>
          </a:xfrm>
          <a:prstGeom prst="rect">
            <a:avLst/>
          </a:prstGeom>
          <a:noFill/>
        </p:spPr>
        <p:txBody>
          <a:bodyPr lIns="274320" tIns="365760" rIns="274320">
            <a:norm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box title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538B584E-1ECA-5646-9DA7-61B8110256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16947" y="1064712"/>
            <a:ext cx="4598987" cy="4515349"/>
          </a:xfrm>
          <a:prstGeom prst="rect">
            <a:avLst/>
          </a:prstGeom>
        </p:spPr>
        <p:txBody>
          <a:bodyPr lIns="0">
            <a:normAutofit/>
          </a:bodyPr>
          <a:lstStyle>
            <a:lvl1pPr marL="347663" indent="-342900">
              <a:buClr>
                <a:schemeClr val="bg1"/>
              </a:buClr>
              <a:tabLst/>
              <a:defRPr sz="24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bullet list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6EF42CC7-103E-EA4C-89A2-543032DA33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843714" cy="622826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8900746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5992-890C-EC4B-B676-6CCEF133B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0" y="1709738"/>
            <a:ext cx="10409299" cy="2852737"/>
          </a:xfrm>
        </p:spPr>
        <p:txBody>
          <a:bodyPr anchor="ctr" anchorCtr="0"/>
          <a:lstStyle>
            <a:lvl1pPr>
              <a:defRPr sz="480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303FD-B916-FD4E-85C2-3EBF655BC1F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38150" y="4589463"/>
            <a:ext cx="104093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FDE18-9616-B043-9C71-522DAD29B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32FF7A-5905-EB40-919B-9225D0871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7509E-6005-DB4B-9578-84532E5F8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822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1739901"/>
            <a:ext cx="5081650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1739901"/>
            <a:ext cx="5081651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3200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2412999"/>
            <a:ext cx="5081650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2412999"/>
            <a:ext cx="5081651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72D795B-85F6-1F49-922A-F4131787307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8213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4E34B4F-F908-104C-90F3-5135E2E8C74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70625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2 </a:t>
            </a:r>
          </a:p>
        </p:txBody>
      </p:sp>
    </p:spTree>
    <p:extLst>
      <p:ext uri="{BB962C8B-B14F-4D97-AF65-F5344CB8AC3E}">
        <p14:creationId xmlns:p14="http://schemas.microsoft.com/office/powerpoint/2010/main" val="1790085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tat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07">
            <a:extLst>
              <a:ext uri="{FF2B5EF4-FFF2-40B4-BE49-F238E27FC236}">
                <a16:creationId xmlns:a16="http://schemas.microsoft.com/office/drawing/2014/main" id="{4647A912-5093-6043-8161-0D98167F24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-336550"/>
            <a:ext cx="12192000" cy="6858000"/>
          </a:xfrm>
          <a:prstGeom prst="rect">
            <a:avLst/>
          </a:prstGeom>
        </p:spPr>
      </p:pic>
      <p:grpSp>
        <p:nvGrpSpPr>
          <p:cNvPr id="11" name="Bottom Bar">
            <a:extLst>
              <a:ext uri="{FF2B5EF4-FFF2-40B4-BE49-F238E27FC236}">
                <a16:creationId xmlns:a16="http://schemas.microsoft.com/office/drawing/2014/main" id="{DC935C4B-E372-E04B-8493-E90A79CBC7F4}"/>
              </a:ext>
            </a:extLst>
          </p:cNvPr>
          <p:cNvGrpSpPr/>
          <p:nvPr userDrawn="1"/>
        </p:nvGrpSpPr>
        <p:grpSpPr>
          <a:xfrm>
            <a:off x="0" y="6247747"/>
            <a:ext cx="12192000" cy="610252"/>
            <a:chOff x="0" y="6247747"/>
            <a:chExt cx="12192000" cy="6102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A574F32-F3B5-224E-B6D3-DC767B30A5BE}"/>
                </a:ext>
              </a:extLst>
            </p:cNvPr>
            <p:cNvSpPr/>
            <p:nvPr/>
          </p:nvSpPr>
          <p:spPr>
            <a:xfrm>
              <a:off x="0" y="6334125"/>
              <a:ext cx="12192000" cy="5238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8EE050A-3114-2641-96C8-48D281A062A0}"/>
                </a:ext>
              </a:extLst>
            </p:cNvPr>
            <p:cNvSpPr/>
            <p:nvPr/>
          </p:nvSpPr>
          <p:spPr>
            <a:xfrm>
              <a:off x="0" y="6247747"/>
              <a:ext cx="12192000" cy="8637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F59F24B-A93D-B046-B78A-2C31137D1AC5}"/>
              </a:ext>
            </a:extLst>
          </p:cNvPr>
          <p:cNvSpPr txBox="1"/>
          <p:nvPr userDrawn="1"/>
        </p:nvSpPr>
        <p:spPr>
          <a:xfrm>
            <a:off x="2872408" y="5178483"/>
            <a:ext cx="64471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Battelle Energy Alliance manages INL for the U.S. Department of Energy’s Office of Nuclear Energy.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INL is the nation’s center for nuclear energy research and development, and also performs research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 each of DOE’s strategic goal areas: energy, national security, science and the environment.</a:t>
            </a:r>
            <a:endParaRPr lang="en-US" sz="10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Web Address">
            <a:extLst>
              <a:ext uri="{FF2B5EF4-FFF2-40B4-BE49-F238E27FC236}">
                <a16:creationId xmlns:a16="http://schemas.microsoft.com/office/drawing/2014/main" id="{53FCC0DF-9440-B040-A076-DF507B404D83}"/>
              </a:ext>
            </a:extLst>
          </p:cNvPr>
          <p:cNvSpPr txBox="1"/>
          <p:nvPr userDrawn="1"/>
        </p:nvSpPr>
        <p:spPr>
          <a:xfrm>
            <a:off x="4100945" y="6417425"/>
            <a:ext cx="3990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600" dirty="0">
                <a:solidFill>
                  <a:schemeClr val="bg1">
                    <a:alpha val="50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rPr>
              <a:t>WWW.INL.GOV</a:t>
            </a:r>
          </a:p>
        </p:txBody>
      </p:sp>
    </p:spTree>
    <p:extLst>
      <p:ext uri="{BB962C8B-B14F-4D97-AF65-F5344CB8AC3E}">
        <p14:creationId xmlns:p14="http://schemas.microsoft.com/office/powerpoint/2010/main" val="1182527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EB3FEC5-4760-DC48-B91E-CFC0C33F63A9}"/>
              </a:ext>
            </a:extLst>
          </p:cNvPr>
          <p:cNvSpPr/>
          <p:nvPr userDrawn="1"/>
        </p:nvSpPr>
        <p:spPr>
          <a:xfrm>
            <a:off x="8465769" y="6335712"/>
            <a:ext cx="3726231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EAE68D-24FC-6749-A309-042231DB68DA}"/>
              </a:ext>
            </a:extLst>
          </p:cNvPr>
          <p:cNvSpPr/>
          <p:nvPr userDrawn="1"/>
        </p:nvSpPr>
        <p:spPr>
          <a:xfrm>
            <a:off x="8465769" y="6237795"/>
            <a:ext cx="3726231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IDAHO NATIONAL LABORATORY">
            <a:extLst>
              <a:ext uri="{FF2B5EF4-FFF2-40B4-BE49-F238E27FC236}">
                <a16:creationId xmlns:a16="http://schemas.microsoft.com/office/drawing/2014/main" id="{C491F914-E346-2146-A51D-D37D67DBC113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2502A-5BF2-8845-923F-AAF24377F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151" y="558602"/>
            <a:ext cx="10415648" cy="1008797"/>
          </a:xfrm>
          <a:prstGeom prst="rect">
            <a:avLst/>
          </a:prstGeom>
        </p:spPr>
        <p:txBody>
          <a:bodyPr vert="horz" lIns="0" tIns="0" rIns="91440" bIns="45720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7B4A4D-34FE-994A-AFE8-DCF682312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8150" y="1739901"/>
            <a:ext cx="10415649" cy="4351338"/>
          </a:xfrm>
          <a:prstGeom prst="rect">
            <a:avLst/>
          </a:prstGeom>
        </p:spPr>
        <p:txBody>
          <a:bodyPr vert="horz" lIns="0" tIns="0" rIns="91440" bIns="45720" rtlCol="0">
            <a:noAutofit/>
          </a:bodyPr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0CF24-C629-E54C-BA9B-20518F01F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1" y="6492875"/>
            <a:ext cx="1546302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l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7CD4A3B-E186-AB40-96C6-355AF9A6FE76}" type="datetimeFigureOut">
              <a:rPr lang="en-US" smtClean="0"/>
              <a:pPr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34D85-E219-4F49-88C8-4DC17F06DE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38150" y="6492875"/>
            <a:ext cx="5060066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7F2A8-2F01-4745-8AFB-4EEC8D271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020" y="6492875"/>
            <a:ext cx="434428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 b="1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2B577FA-F7D9-2C48-919F-F962E3BF952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blue/green box top">
            <a:extLst>
              <a:ext uri="{FF2B5EF4-FFF2-40B4-BE49-F238E27FC236}">
                <a16:creationId xmlns:a16="http://schemas.microsoft.com/office/drawing/2014/main" id="{2FE8E780-1DE8-B245-8215-3ECC2513C073}"/>
              </a:ext>
            </a:extLst>
          </p:cNvPr>
          <p:cNvGrpSpPr/>
          <p:nvPr userDrawn="1"/>
        </p:nvGrpSpPr>
        <p:grpSpPr>
          <a:xfrm>
            <a:off x="0" y="522288"/>
            <a:ext cx="744467" cy="547190"/>
            <a:chOff x="0" y="711956"/>
            <a:chExt cx="3721100" cy="62020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A2A1D5-CB4B-1A40-8711-4F412AA9927B}"/>
                </a:ext>
              </a:extLst>
            </p:cNvPr>
            <p:cNvSpPr/>
            <p:nvPr userDrawn="1"/>
          </p:nvSpPr>
          <p:spPr>
            <a:xfrm rot="10800000">
              <a:off x="0" y="711956"/>
              <a:ext cx="3721100" cy="52228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B5F476-DD08-5B45-A331-21193BD3472A}"/>
                </a:ext>
              </a:extLst>
            </p:cNvPr>
            <p:cNvSpPr/>
            <p:nvPr userDrawn="1"/>
          </p:nvSpPr>
          <p:spPr>
            <a:xfrm rot="10800000">
              <a:off x="0" y="1234244"/>
              <a:ext cx="3721100" cy="9791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5166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4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10" r:id="rId8"/>
    <p:sldLayoutId id="2147483711" r:id="rId9"/>
    <p:sldLayoutId id="2147483712" r:id="rId10"/>
    <p:sldLayoutId id="2147483713" r:id="rId11"/>
    <p:sldLayoutId id="2147483695" r:id="rId12"/>
    <p:sldLayoutId id="2147483696" r:id="rId13"/>
    <p:sldLayoutId id="2147483709" r:id="rId14"/>
    <p:sldLayoutId id="214748371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420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AFFBDF4-D027-5540-A4D0-49BD3CCE65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Natural Circulation Flow Loop Digital Twin Development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1FA6BA-7AEF-C349-A828-FB83B670B5C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52232" y="929464"/>
            <a:ext cx="2541981" cy="1392237"/>
          </a:xfrm>
        </p:spPr>
        <p:txBody>
          <a:bodyPr/>
          <a:lstStyle/>
          <a:p>
            <a:r>
              <a:rPr lang="en-US" sz="1400" b="0" dirty="0"/>
              <a:t>August 6</a:t>
            </a:r>
            <a:r>
              <a:rPr lang="en-US" sz="1400" b="0" baseline="30000" dirty="0"/>
              <a:t>th</a:t>
            </a:r>
            <a:r>
              <a:rPr lang="en-US" sz="1400" b="0" dirty="0"/>
              <a:t>, 2026</a:t>
            </a:r>
          </a:p>
          <a:p>
            <a:pPr>
              <a:spcBef>
                <a:spcPts val="2000"/>
              </a:spcBef>
            </a:pPr>
            <a:r>
              <a:rPr lang="en-US" dirty="0"/>
              <a:t>Hari Naicker</a:t>
            </a:r>
          </a:p>
          <a:p>
            <a:pPr>
              <a:spcBef>
                <a:spcPts val="500"/>
              </a:spcBef>
            </a:pPr>
            <a:r>
              <a:rPr lang="en-US" b="0" dirty="0"/>
              <a:t>Undergraduate Technical Intern – C130</a:t>
            </a:r>
          </a:p>
          <a:p>
            <a:pPr>
              <a:spcBef>
                <a:spcPts val="500"/>
              </a:spcBef>
            </a:pPr>
            <a:endParaRPr lang="en-US" b="0" dirty="0"/>
          </a:p>
          <a:p>
            <a:pPr>
              <a:spcBef>
                <a:spcPts val="500"/>
              </a:spcBef>
            </a:pPr>
            <a:endParaRPr lang="en-US" b="0" dirty="0"/>
          </a:p>
          <a:p>
            <a:pPr>
              <a:spcBef>
                <a:spcPts val="500"/>
              </a:spcBef>
            </a:pPr>
            <a:r>
              <a:rPr lang="en-US" b="0" dirty="0"/>
              <a:t>Mentor: Dr. Sunming Qin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DAA295-175E-7601-8A85-E5850ACAFA8E}"/>
              </a:ext>
            </a:extLst>
          </p:cNvPr>
          <p:cNvSpPr txBox="1"/>
          <p:nvPr/>
        </p:nvSpPr>
        <p:spPr>
          <a:xfrm>
            <a:off x="47842" y="6354233"/>
            <a:ext cx="20697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INL/MIS-26-94319</a:t>
            </a:r>
          </a:p>
        </p:txBody>
      </p:sp>
    </p:spTree>
    <p:extLst>
      <p:ext uri="{BB962C8B-B14F-4D97-AF65-F5344CB8AC3E}">
        <p14:creationId xmlns:p14="http://schemas.microsoft.com/office/powerpoint/2010/main" val="1665996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13701-5DFC-A845-ABEE-258D0E315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3E1C6-BA43-104A-8ACE-1179C840E1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150" y="1739901"/>
            <a:ext cx="4438183" cy="4351338"/>
          </a:xfrm>
        </p:spPr>
        <p:txBody>
          <a:bodyPr/>
          <a:lstStyle/>
          <a:p>
            <a:r>
              <a:rPr lang="en-US" dirty="0"/>
              <a:t>The objective is to develop a hierarchical DT with:</a:t>
            </a:r>
          </a:p>
          <a:p>
            <a:pPr lvl="1"/>
            <a:r>
              <a:rPr lang="en-US" sz="1800" dirty="0"/>
              <a:t>Integrated physics-based models (</a:t>
            </a:r>
            <a:r>
              <a:rPr lang="en-US" sz="1800" dirty="0" err="1"/>
              <a:t>Dymola</a:t>
            </a:r>
            <a:r>
              <a:rPr lang="en-US" sz="1800" dirty="0"/>
              <a:t>)</a:t>
            </a:r>
          </a:p>
          <a:p>
            <a:pPr lvl="1"/>
            <a:r>
              <a:rPr lang="en-US" sz="1800" dirty="0"/>
              <a:t>Scientific machine learning for data-driven models</a:t>
            </a:r>
          </a:p>
          <a:p>
            <a:r>
              <a:rPr lang="en-US" dirty="0"/>
              <a:t>Focus on components such as valves, heat exchangers, and pumps</a:t>
            </a:r>
          </a:p>
          <a:p>
            <a:r>
              <a:rPr lang="en-US" dirty="0"/>
              <a:t>Data and knowledge base for an assortment of failure modes</a:t>
            </a:r>
          </a:p>
          <a:p>
            <a:pPr lvl="1"/>
            <a:r>
              <a:rPr lang="en-US" sz="1800" dirty="0"/>
              <a:t>Component failure</a:t>
            </a:r>
          </a:p>
          <a:p>
            <a:pPr lvl="1"/>
            <a:r>
              <a:rPr lang="en-US" sz="1800" dirty="0"/>
              <a:t>Flow anomalies</a:t>
            </a:r>
          </a:p>
          <a:p>
            <a:pPr lvl="1"/>
            <a:r>
              <a:rPr lang="en-US" sz="1800" dirty="0"/>
              <a:t>Thermal degradation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CE83D6-0EBA-6AA2-79E7-B53AA6E158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1266" y="1567399"/>
            <a:ext cx="6256417" cy="3931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1934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EE047-725E-82CA-5C4E-FE0B943A6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Pipe-Integrated Thermal Battery (HITB)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439AD9-25E5-EFD2-F1E6-7728728536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150" y="1739901"/>
            <a:ext cx="5187483" cy="4351338"/>
          </a:xfrm>
        </p:spPr>
        <p:txBody>
          <a:bodyPr/>
          <a:lstStyle/>
          <a:p>
            <a:r>
              <a:rPr lang="en-US" dirty="0"/>
              <a:t>Located at the IEDF and constructed out of stainless steel 316</a:t>
            </a:r>
          </a:p>
          <a:p>
            <a:r>
              <a:rPr lang="en-US" dirty="0"/>
              <a:t>30 kWh latent heat thermal energy storage with 3 heat pipes</a:t>
            </a:r>
          </a:p>
          <a:p>
            <a:pPr lvl="1"/>
            <a:r>
              <a:rPr lang="en-US" sz="1800" dirty="0"/>
              <a:t>Uses Al(59%)-Mg(35%)-Zn(6%) which is a eutectic metal alloy</a:t>
            </a:r>
          </a:p>
          <a:p>
            <a:r>
              <a:rPr lang="en-US" dirty="0"/>
              <a:t>During charging and discharging modes:</a:t>
            </a:r>
          </a:p>
          <a:p>
            <a:pPr lvl="1"/>
            <a:r>
              <a:rPr lang="en-US" sz="1800" dirty="0"/>
              <a:t>Simulate thermal stress and </a:t>
            </a:r>
            <a:r>
              <a:rPr lang="en-US" sz="1800" dirty="0" err="1"/>
              <a:t>degredation</a:t>
            </a:r>
            <a:endParaRPr lang="en-US" dirty="0"/>
          </a:p>
          <a:p>
            <a:r>
              <a:rPr lang="en-US" dirty="0"/>
              <a:t>Temperature measurements taken throughout system </a:t>
            </a:r>
          </a:p>
          <a:p>
            <a:pPr lvl="1"/>
            <a:r>
              <a:rPr lang="en-US" sz="1800" dirty="0"/>
              <a:t>Evaluate heat pipe performance and anomalies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0C3E101-6E15-B81A-6311-C186BEB50528}"/>
              </a:ext>
            </a:extLst>
          </p:cNvPr>
          <p:cNvGrpSpPr/>
          <p:nvPr/>
        </p:nvGrpSpPr>
        <p:grpSpPr>
          <a:xfrm>
            <a:off x="7518809" y="876332"/>
            <a:ext cx="4114800" cy="2552668"/>
            <a:chOff x="7518809" y="876332"/>
            <a:chExt cx="4114800" cy="255266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7B803D2-829E-1BA5-A0E7-A64F12CE72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" r="103" b="8917"/>
            <a:stretch>
              <a:fillRect/>
            </a:stretch>
          </p:blipFill>
          <p:spPr>
            <a:xfrm>
              <a:off x="7518809" y="876332"/>
              <a:ext cx="4114800" cy="22860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B88EA4B-6EB6-C9BD-4343-D52E0A9975BE}"/>
                </a:ext>
              </a:extLst>
            </p:cNvPr>
            <p:cNvSpPr txBox="1"/>
            <p:nvPr/>
          </p:nvSpPr>
          <p:spPr>
            <a:xfrm>
              <a:off x="7518809" y="3059668"/>
              <a:ext cx="41148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Operational diagram of HITB facility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B515F08-9EE2-6944-884D-3E83E1FA6377}"/>
              </a:ext>
            </a:extLst>
          </p:cNvPr>
          <p:cNvGrpSpPr/>
          <p:nvPr/>
        </p:nvGrpSpPr>
        <p:grpSpPr>
          <a:xfrm>
            <a:off x="8044151" y="3429000"/>
            <a:ext cx="3064115" cy="2662239"/>
            <a:chOff x="8044151" y="3429000"/>
            <a:chExt cx="3064115" cy="2662239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700C45A-48E7-3D52-6EB4-6560376D10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044151" y="3429000"/>
              <a:ext cx="3064115" cy="2298635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508140E-A516-A16C-4543-3272E8B4A624}"/>
                </a:ext>
              </a:extLst>
            </p:cNvPr>
            <p:cNvSpPr txBox="1"/>
            <p:nvPr/>
          </p:nvSpPr>
          <p:spPr>
            <a:xfrm>
              <a:off x="8044151" y="5721907"/>
              <a:ext cx="306411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1" dirty="0"/>
                <a:t>Picture of HITB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88403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EFD83-FE4E-8FF1-0E0D-B9642CC7B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Natural Circulation Flow Loop(NCFL)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12497-1BC4-4D68-5AC7-97DF93BE6E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150" y="1291168"/>
            <a:ext cx="5157850" cy="4351338"/>
          </a:xfrm>
        </p:spPr>
        <p:txBody>
          <a:bodyPr/>
          <a:lstStyle/>
          <a:p>
            <a:r>
              <a:rPr lang="en-US" dirty="0"/>
              <a:t>Located in ZEC at UTK</a:t>
            </a:r>
          </a:p>
          <a:p>
            <a:r>
              <a:rPr lang="en-US" dirty="0"/>
              <a:t>Components:</a:t>
            </a:r>
          </a:p>
          <a:p>
            <a:pPr lvl="1"/>
            <a:r>
              <a:rPr lang="en-US" sz="1800" dirty="0"/>
              <a:t>3 5.5 kW spa heaters</a:t>
            </a:r>
          </a:p>
          <a:p>
            <a:pPr lvl="1"/>
            <a:r>
              <a:rPr lang="en-US" sz="1800" dirty="0"/>
              <a:t>Aluminum heat exchange</a:t>
            </a:r>
          </a:p>
          <a:p>
            <a:pPr lvl="1"/>
            <a:r>
              <a:rPr lang="en-US" sz="1800" dirty="0"/>
              <a:t>30 GPM centrifugal pump</a:t>
            </a:r>
          </a:p>
          <a:p>
            <a:pPr lvl="1"/>
            <a:r>
              <a:rPr lang="en-US" sz="1800" dirty="0"/>
              <a:t>6 thermocouples</a:t>
            </a:r>
          </a:p>
          <a:p>
            <a:pPr lvl="1"/>
            <a:r>
              <a:rPr lang="en-US" sz="1800" dirty="0"/>
              <a:t>Electromagnetic and ultrasonic flow sensors</a:t>
            </a:r>
          </a:p>
          <a:p>
            <a:r>
              <a:rPr lang="en-US" dirty="0"/>
              <a:t>Comprised primarily of CPVC and uses water as the flow medium</a:t>
            </a:r>
          </a:p>
          <a:p>
            <a:r>
              <a:rPr lang="en-US" dirty="0"/>
              <a:t>Two channels at the bottom for induced and natural flow</a:t>
            </a:r>
          </a:p>
          <a:p>
            <a:r>
              <a:rPr lang="en-US" dirty="0"/>
              <a:t>Opening at top of loop exposed to atmosphere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F6C61F8-8825-43E3-9B98-FA912F8A2A1B}"/>
              </a:ext>
            </a:extLst>
          </p:cNvPr>
          <p:cNvGrpSpPr/>
          <p:nvPr/>
        </p:nvGrpSpPr>
        <p:grpSpPr>
          <a:xfrm>
            <a:off x="7776633" y="416984"/>
            <a:ext cx="1812857" cy="5546182"/>
            <a:chOff x="7776633" y="416984"/>
            <a:chExt cx="1812857" cy="554618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D631CD5-CD55-98B7-2293-DB3A9196C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76633" y="416984"/>
              <a:ext cx="1812857" cy="5142936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778E56F-3F29-2BD2-0109-FA43EF42CA77}"/>
                </a:ext>
              </a:extLst>
            </p:cNvPr>
            <p:cNvSpPr txBox="1"/>
            <p:nvPr/>
          </p:nvSpPr>
          <p:spPr>
            <a:xfrm>
              <a:off x="7776633" y="5593834"/>
              <a:ext cx="181285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b="1" dirty="0"/>
                <a:t>Image of NCFL 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ECB7757-2970-BE9F-6ED4-680E2CD03B8C}"/>
              </a:ext>
            </a:extLst>
          </p:cNvPr>
          <p:cNvGrpSpPr/>
          <p:nvPr/>
        </p:nvGrpSpPr>
        <p:grpSpPr>
          <a:xfrm>
            <a:off x="9837276" y="416421"/>
            <a:ext cx="1812857" cy="5514479"/>
            <a:chOff x="9837276" y="416421"/>
            <a:chExt cx="1812857" cy="5514479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D0DD0AE4-8ED6-50EC-7F79-047F58CCBC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966472" y="416421"/>
              <a:ext cx="1485095" cy="5143499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F392AFE-72FB-A1A4-822E-2B83D87197E6}"/>
                </a:ext>
              </a:extLst>
            </p:cNvPr>
            <p:cNvSpPr txBox="1"/>
            <p:nvPr/>
          </p:nvSpPr>
          <p:spPr>
            <a:xfrm>
              <a:off x="9837276" y="5561568"/>
              <a:ext cx="181285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b="1" dirty="0"/>
                <a:t>CAD of NCFL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12073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E0E91-DF7D-8F05-9383-1C7D4FE4A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Refined </a:t>
            </a:r>
            <a:r>
              <a:rPr lang="en-US" dirty="0" err="1"/>
              <a:t>Dymola</a:t>
            </a:r>
            <a:r>
              <a:rPr lang="en-US" dirty="0"/>
              <a:t>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F101DA-639A-610B-6DE8-956FB31A2C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150" y="1739901"/>
            <a:ext cx="5001217" cy="4351338"/>
          </a:xfrm>
        </p:spPr>
        <p:txBody>
          <a:bodyPr/>
          <a:lstStyle/>
          <a:p>
            <a:r>
              <a:rPr lang="en-US" dirty="0"/>
              <a:t>Physical dimensions with integrated control system (CS)</a:t>
            </a:r>
          </a:p>
          <a:p>
            <a:pPr lvl="1"/>
            <a:r>
              <a:rPr lang="en-US" sz="1800" dirty="0"/>
              <a:t>Certain component parameters controlled by CS (Pump and heater power and valve openings)</a:t>
            </a:r>
          </a:p>
          <a:p>
            <a:r>
              <a:rPr lang="en-US" dirty="0"/>
              <a:t>Does not model the secondary loop with high detail</a:t>
            </a:r>
          </a:p>
          <a:p>
            <a:r>
              <a:rPr lang="en-US" dirty="0"/>
              <a:t>Custom components for:</a:t>
            </a:r>
          </a:p>
          <a:p>
            <a:pPr lvl="1"/>
            <a:r>
              <a:rPr lang="en-US" sz="1800" dirty="0"/>
              <a:t>Heaters</a:t>
            </a:r>
          </a:p>
          <a:p>
            <a:pPr lvl="1"/>
            <a:r>
              <a:rPr lang="en-US" sz="1800" dirty="0"/>
              <a:t>Heat exchanger (HX)</a:t>
            </a:r>
          </a:p>
          <a:p>
            <a:pPr lvl="1"/>
            <a:r>
              <a:rPr lang="en-US" sz="1800" dirty="0"/>
              <a:t>Jet pump</a:t>
            </a:r>
          </a:p>
          <a:p>
            <a:pPr lvl="1"/>
            <a:r>
              <a:rPr lang="en-US" sz="1800" dirty="0"/>
              <a:t>Control system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855BA7-D01A-88BF-0E82-E1DF12A88A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068" y="317236"/>
            <a:ext cx="5043778" cy="519456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7E39D61-E327-E1F2-8D08-E025DE2D936B}"/>
              </a:ext>
            </a:extLst>
          </p:cNvPr>
          <p:cNvSpPr txBox="1"/>
          <p:nvPr/>
        </p:nvSpPr>
        <p:spPr>
          <a:xfrm>
            <a:off x="6949068" y="5511799"/>
            <a:ext cx="50437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 err="1"/>
              <a:t>Dymola</a:t>
            </a:r>
            <a:r>
              <a:rPr lang="en-US" sz="1800" b="1" dirty="0"/>
              <a:t> Model for the NCFL</a:t>
            </a:r>
          </a:p>
        </p:txBody>
      </p:sp>
    </p:spTree>
    <p:extLst>
      <p:ext uri="{BB962C8B-B14F-4D97-AF65-F5344CB8AC3E}">
        <p14:creationId xmlns:p14="http://schemas.microsoft.com/office/powerpoint/2010/main" val="3416637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BFB5F-0FB2-4B70-A1C7-FBA3BD37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Features of the NCFL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6BFA4E-984E-FDFE-FD57-27A4C720F0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150" y="1739901"/>
            <a:ext cx="5377983" cy="4351338"/>
          </a:xfrm>
        </p:spPr>
        <p:txBody>
          <a:bodyPr/>
          <a:lstStyle/>
          <a:p>
            <a:r>
              <a:rPr lang="en-US" dirty="0"/>
              <a:t>Interchangeable CS modules</a:t>
            </a:r>
          </a:p>
          <a:p>
            <a:pPr lvl="1"/>
            <a:r>
              <a:rPr lang="en-US" sz="1800" dirty="0"/>
              <a:t>Different test cases that are independent of experimental data</a:t>
            </a:r>
          </a:p>
          <a:p>
            <a:r>
              <a:rPr lang="en-US" dirty="0"/>
              <a:t>Data card that allows for changes in:</a:t>
            </a:r>
          </a:p>
          <a:p>
            <a:pPr lvl="1"/>
            <a:r>
              <a:rPr lang="en-US" sz="1800" dirty="0"/>
              <a:t>Dimensions of components</a:t>
            </a:r>
          </a:p>
          <a:p>
            <a:pPr lvl="1"/>
            <a:r>
              <a:rPr lang="en-US" sz="1800" dirty="0"/>
              <a:t>Material of pipes</a:t>
            </a:r>
          </a:p>
          <a:p>
            <a:pPr lvl="1"/>
            <a:r>
              <a:rPr lang="en-US" sz="1800" dirty="0"/>
              <a:t>Heat transfer between components</a:t>
            </a:r>
          </a:p>
          <a:p>
            <a:r>
              <a:rPr lang="en-US" dirty="0"/>
              <a:t>Dynamic CS</a:t>
            </a:r>
          </a:p>
          <a:p>
            <a:pPr lvl="1"/>
            <a:r>
              <a:rPr lang="en-US" sz="1800" dirty="0"/>
              <a:t>Ease of replication for experimental data</a:t>
            </a:r>
          </a:p>
          <a:p>
            <a:pPr lvl="1"/>
            <a:r>
              <a:rPr lang="en-US" sz="1800" dirty="0"/>
              <a:t>Can input data series for component actuator signals</a:t>
            </a:r>
          </a:p>
          <a:p>
            <a:r>
              <a:rPr lang="en-US" dirty="0"/>
              <a:t>Modular design</a:t>
            </a:r>
            <a:endParaRPr lang="en-US" sz="1800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B358F9-B890-FA85-7B90-685E4609AE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8343" y="281141"/>
            <a:ext cx="2123424" cy="257251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59D588B-9AC6-E08F-E936-266AFDAA58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136" y="281141"/>
            <a:ext cx="1838114" cy="257251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8952A08-25EB-9F6D-A361-E02BAF44D9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6028" y="3308297"/>
            <a:ext cx="4868222" cy="208408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CA21B88-4011-E25C-BD46-EF23272E62A6}"/>
              </a:ext>
            </a:extLst>
          </p:cNvPr>
          <p:cNvSpPr txBox="1"/>
          <p:nvPr/>
        </p:nvSpPr>
        <p:spPr>
          <a:xfrm>
            <a:off x="7778343" y="2841988"/>
            <a:ext cx="2123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CS Dropdown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80FDDC-9595-44F2-9FBC-290674D8D5B5}"/>
              </a:ext>
            </a:extLst>
          </p:cNvPr>
          <p:cNvSpPr txBox="1"/>
          <p:nvPr/>
        </p:nvSpPr>
        <p:spPr>
          <a:xfrm>
            <a:off x="9933481" y="2841988"/>
            <a:ext cx="2123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Dynamic CS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AAF6E2B-1569-3EC0-97A0-1BCB4096983F}"/>
              </a:ext>
            </a:extLst>
          </p:cNvPr>
          <p:cNvSpPr txBox="1"/>
          <p:nvPr/>
        </p:nvSpPr>
        <p:spPr>
          <a:xfrm>
            <a:off x="7046027" y="5392384"/>
            <a:ext cx="50108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Example of variable inputs into the dynamic CS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F26F05C-B666-00DB-EFA8-002F2E44AC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3626" y="5392384"/>
            <a:ext cx="1998303" cy="1332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5617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042B1-5EEF-0F44-2C15-67E1ED72F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Long-Term System Stability in </a:t>
            </a:r>
            <a:r>
              <a:rPr lang="en-US" dirty="0" err="1"/>
              <a:t>Dymola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E8B6FE-2634-511C-5377-A4492BF6B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151" y="1400188"/>
            <a:ext cx="6144217" cy="4351338"/>
          </a:xfrm>
        </p:spPr>
        <p:txBody>
          <a:bodyPr/>
          <a:lstStyle/>
          <a:p>
            <a:r>
              <a:rPr lang="en-US" dirty="0"/>
              <a:t>Ran simulations at a maximum of 18000 seconds (5 hours) in simulated time</a:t>
            </a:r>
          </a:p>
          <a:p>
            <a:r>
              <a:rPr lang="en-US" dirty="0"/>
              <a:t>Reversible flow was detected at various points and rectified</a:t>
            </a:r>
          </a:p>
          <a:p>
            <a:pPr lvl="1"/>
            <a:r>
              <a:rPr lang="en-US" dirty="0"/>
              <a:t>Due to mismatches in heating compared to flow rate</a:t>
            </a:r>
          </a:p>
          <a:p>
            <a:pPr lvl="1"/>
            <a:r>
              <a:rPr lang="en-US" dirty="0"/>
              <a:t>Can be remedied with dynamic control of heater power based on detected mass flow in the system</a:t>
            </a:r>
          </a:p>
          <a:p>
            <a:r>
              <a:rPr lang="en-US" dirty="0"/>
              <a:t>System can reach steady state with nominal conditions and all valves being opened</a:t>
            </a:r>
          </a:p>
          <a:p>
            <a:r>
              <a:rPr lang="en-US" dirty="0"/>
              <a:t>Longer simulations with natural circulation and/or dynamic values are not stable and computation time increases drastically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6F369E-61F7-036F-AD85-0B892D320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6668" y="1400188"/>
            <a:ext cx="4679137" cy="18616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A51BE12-DAB5-1DC2-D335-91E83085B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668" y="3456470"/>
            <a:ext cx="4502381" cy="596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9297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0E4FD-3105-AAC8-511E-AFDD3823D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Adaptive Heating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0E4870-C8B1-E04D-B0E1-A5FDCD7E88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Still in progress feature for the </a:t>
                </a:r>
                <a:r>
                  <a:rPr lang="en-US" dirty="0" err="1"/>
                  <a:t>Dymola</a:t>
                </a:r>
                <a:r>
                  <a:rPr lang="en-US" dirty="0"/>
                  <a:t> NCFL model</a:t>
                </a:r>
              </a:p>
              <a:p>
                <a:r>
                  <a:rPr lang="en-US" dirty="0"/>
                  <a:t>Will follow the below relation to ensure no boiling: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acc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Heaters will automatically adjust power based on the flow rate of the pump</a:t>
                </a:r>
              </a:p>
              <a:p>
                <a:r>
                  <a:rPr lang="en-US" dirty="0"/>
                  <a:t>Will include graphs once the feature is implemented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0E4870-C8B1-E04D-B0E1-A5FDCD7E88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581" t="-26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C2D5F2D-33A3-7A84-4085-D353187B51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490" y="4060660"/>
            <a:ext cx="4019800" cy="13084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2978E2-F955-C7DB-0DB3-A3E0BC003F11}"/>
              </a:ext>
            </a:extLst>
          </p:cNvPr>
          <p:cNvSpPr txBox="1"/>
          <p:nvPr/>
        </p:nvSpPr>
        <p:spPr>
          <a:xfrm>
            <a:off x="1257490" y="5369066"/>
            <a:ext cx="4019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Adaptive Heating Component</a:t>
            </a:r>
          </a:p>
        </p:txBody>
      </p:sp>
    </p:spTree>
    <p:extLst>
      <p:ext uri="{BB962C8B-B14F-4D97-AF65-F5344CB8AC3E}">
        <p14:creationId xmlns:p14="http://schemas.microsoft.com/office/powerpoint/2010/main" val="27986715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C4D27-5845-04C2-25E7-25120C257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Integration of NCFL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3F7773-5749-C5FC-3CB6-CEB80BF833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151" y="1739901"/>
            <a:ext cx="10415648" cy="4351338"/>
          </a:xfrm>
        </p:spPr>
        <p:txBody>
          <a:bodyPr/>
          <a:lstStyle/>
          <a:p>
            <a:r>
              <a:rPr lang="en-US" dirty="0"/>
              <a:t>Developed a Python script to run simulations of the NCFL model</a:t>
            </a:r>
          </a:p>
          <a:p>
            <a:r>
              <a:rPr lang="en-US" dirty="0"/>
              <a:t>Standard script allows for:</a:t>
            </a:r>
          </a:p>
          <a:p>
            <a:pPr lvl="1"/>
            <a:r>
              <a:rPr lang="en-US" sz="1800" dirty="0"/>
              <a:t>Modifications to component details (Heater power, valve openings, Pump flow)</a:t>
            </a:r>
          </a:p>
          <a:p>
            <a:pPr lvl="1"/>
            <a:r>
              <a:rPr lang="en-US" sz="1800" dirty="0"/>
              <a:t>Swapping CS modules to run different test cases directly from Python</a:t>
            </a:r>
          </a:p>
          <a:p>
            <a:r>
              <a:rPr lang="en-US" dirty="0"/>
              <a:t>When using dynamic CS modules, can swap out data series to compare different experimental cases</a:t>
            </a:r>
          </a:p>
          <a:p>
            <a:r>
              <a:rPr lang="en-US" dirty="0"/>
              <a:t>Will need to implement comparison study to determine differences between model and experimental results</a:t>
            </a:r>
          </a:p>
          <a:p>
            <a:pPr lvl="1"/>
            <a:r>
              <a:rPr lang="en-US" sz="1800" dirty="0"/>
              <a:t>Not yet tested as experimental campaign for the NCFL has not begun</a:t>
            </a:r>
          </a:p>
          <a:p>
            <a:pPr lvl="1"/>
            <a:r>
              <a:rPr lang="en-US" sz="1800" dirty="0"/>
              <a:t>Will utilize RMSE for standard comparisons</a:t>
            </a:r>
          </a:p>
        </p:txBody>
      </p:sp>
    </p:spTree>
    <p:extLst>
      <p:ext uri="{BB962C8B-B14F-4D97-AF65-F5344CB8AC3E}">
        <p14:creationId xmlns:p14="http://schemas.microsoft.com/office/powerpoint/2010/main" val="31359721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C3118-B3C3-219F-684F-6729969F1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Data Campaign (UTK)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5F1D05-1DE6-E1F9-42E4-22914F4D7C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collection delayed because: </a:t>
            </a:r>
          </a:p>
          <a:p>
            <a:pPr lvl="1"/>
            <a:r>
              <a:rPr lang="en-US" sz="1800" dirty="0"/>
              <a:t>Multiple leaks detected due to expansion of pipe sealant due to heating</a:t>
            </a:r>
          </a:p>
          <a:p>
            <a:pPr lvl="1"/>
            <a:r>
              <a:rPr lang="en-US" sz="1800" dirty="0"/>
              <a:t>Data acquisition (DAQ) is not yet implemented through LabView</a:t>
            </a:r>
          </a:p>
          <a:p>
            <a:r>
              <a:rPr lang="en-US" dirty="0"/>
              <a:t>Once the loop is operational, will run cases to test:</a:t>
            </a:r>
          </a:p>
          <a:p>
            <a:pPr lvl="1"/>
            <a:r>
              <a:rPr lang="en-US" sz="1800" dirty="0"/>
              <a:t>All valves open with induced flow</a:t>
            </a:r>
          </a:p>
          <a:p>
            <a:pPr lvl="1"/>
            <a:r>
              <a:rPr lang="en-US" sz="1800" dirty="0"/>
              <a:t>Natural circulation through the top channel</a:t>
            </a:r>
          </a:p>
          <a:p>
            <a:pPr lvl="1"/>
            <a:r>
              <a:rPr lang="en-US" sz="1800" dirty="0"/>
              <a:t>Adaptive heating based on flow rate</a:t>
            </a:r>
            <a:endParaRPr lang="en-US" dirty="0"/>
          </a:p>
          <a:p>
            <a:r>
              <a:rPr lang="en-US" dirty="0"/>
              <a:t>Will compare experimental data to results from </a:t>
            </a:r>
            <a:r>
              <a:rPr lang="en-US" dirty="0" err="1"/>
              <a:t>Dymola</a:t>
            </a:r>
            <a:r>
              <a:rPr lang="en-US" dirty="0"/>
              <a:t> model to assess accuracy of the model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40082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81CA4-AAA6-A984-6FC2-2D8E05B81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DeepLynx</a:t>
            </a:r>
            <a:r>
              <a:rPr lang="en-US" dirty="0"/>
              <a:t> integration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B525E-C640-B880-7658-1110B9564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150" y="1739901"/>
            <a:ext cx="5123983" cy="4351338"/>
          </a:xfrm>
        </p:spPr>
        <p:txBody>
          <a:bodyPr/>
          <a:lstStyle/>
          <a:p>
            <a:r>
              <a:rPr lang="en-US" dirty="0"/>
              <a:t>Develop a </a:t>
            </a:r>
            <a:r>
              <a:rPr lang="en-US" dirty="0" err="1"/>
              <a:t>DeepLynx</a:t>
            </a:r>
            <a:r>
              <a:rPr lang="en-US" dirty="0"/>
              <a:t> relation with the Python integration for the NCFL for automation </a:t>
            </a:r>
          </a:p>
          <a:p>
            <a:pPr lvl="1"/>
            <a:r>
              <a:rPr lang="en-US" sz="1800" dirty="0"/>
              <a:t>Automatic data storage and analysis from script outputs</a:t>
            </a:r>
          </a:p>
          <a:p>
            <a:pPr lvl="1"/>
            <a:r>
              <a:rPr lang="en-US" sz="1800" dirty="0"/>
              <a:t>Large scale simulations covering multiple test cases</a:t>
            </a:r>
          </a:p>
          <a:p>
            <a:r>
              <a:rPr lang="en-US" dirty="0"/>
              <a:t>Eventually connect data warehouse with LabView DAQ at UTK</a:t>
            </a:r>
          </a:p>
          <a:p>
            <a:r>
              <a:rPr lang="en-US" dirty="0"/>
              <a:t>Further extensions would involve exploring live streams of data, directly from the DAQ at the NCFL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630BC6-473F-D7E0-9EA0-56567E7861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8308" y="186265"/>
            <a:ext cx="2935528" cy="25152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CD966E7-1B87-8A5E-5642-229269347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2100" y="3124198"/>
            <a:ext cx="3924739" cy="246665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A1A43B-074D-F38F-90AB-0F7D6F1A3C6B}"/>
              </a:ext>
            </a:extLst>
          </p:cNvPr>
          <p:cNvSpPr txBox="1"/>
          <p:nvPr/>
        </p:nvSpPr>
        <p:spPr>
          <a:xfrm>
            <a:off x="8728308" y="2704518"/>
            <a:ext cx="29355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Timeseries Display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05ADC9-7B37-B3F3-1F80-DA57A955FCF7}"/>
              </a:ext>
            </a:extLst>
          </p:cNvPr>
          <p:cNvSpPr txBox="1"/>
          <p:nvPr/>
        </p:nvSpPr>
        <p:spPr>
          <a:xfrm>
            <a:off x="7912100" y="5590851"/>
            <a:ext cx="39247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Timeseries </a:t>
            </a:r>
            <a:r>
              <a:rPr lang="en-US" b="1" dirty="0"/>
              <a:t>R</a:t>
            </a:r>
            <a:r>
              <a:rPr lang="en-US" sz="1800" b="1" dirty="0"/>
              <a:t>elationship </a:t>
            </a:r>
            <a:r>
              <a:rPr lang="en-US" b="1" dirty="0"/>
              <a:t>G</a:t>
            </a:r>
            <a:r>
              <a:rPr lang="en-US" sz="1800" b="1" dirty="0"/>
              <a:t>raph</a:t>
            </a:r>
          </a:p>
        </p:txBody>
      </p:sp>
    </p:spTree>
    <p:extLst>
      <p:ext uri="{BB962C8B-B14F-4D97-AF65-F5344CB8AC3E}">
        <p14:creationId xmlns:p14="http://schemas.microsoft.com/office/powerpoint/2010/main" val="7431285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29297-1BF1-8A0A-ED7E-35901B97C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Morris Sensitivity Analysis and Sensor Output Recreation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53AB9-FF51-8FED-6187-293D186FEC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NCFL:</a:t>
            </a:r>
          </a:p>
          <a:p>
            <a:r>
              <a:rPr lang="en-US" dirty="0"/>
              <a:t>Done in conjunction with Dr. Linyu Lin (C230)</a:t>
            </a:r>
          </a:p>
          <a:p>
            <a:r>
              <a:rPr lang="en-US" dirty="0"/>
              <a:t>Morris analysis of NCFL, like what was done for the HITB</a:t>
            </a:r>
          </a:p>
          <a:p>
            <a:pPr lvl="1"/>
            <a:r>
              <a:rPr lang="en-US" sz="1800" dirty="0"/>
              <a:t>Develop Python script</a:t>
            </a:r>
          </a:p>
          <a:p>
            <a:r>
              <a:rPr lang="en-US" dirty="0"/>
              <a:t>Generate sensitivity report for NCFL components</a:t>
            </a:r>
          </a:p>
          <a:p>
            <a:pPr marL="0" indent="0">
              <a:buNone/>
            </a:pPr>
            <a:r>
              <a:rPr lang="en-US" dirty="0"/>
              <a:t>HITB:</a:t>
            </a:r>
          </a:p>
          <a:p>
            <a:r>
              <a:rPr lang="en-US" dirty="0"/>
              <a:t>Certain thermocouples within HITB are not operational</a:t>
            </a:r>
          </a:p>
          <a:p>
            <a:pPr lvl="1"/>
            <a:r>
              <a:rPr lang="en-US" dirty="0"/>
              <a:t>Require predictive reconstruction based of nearby sensors</a:t>
            </a:r>
          </a:p>
          <a:p>
            <a:r>
              <a:rPr lang="en-US" dirty="0"/>
              <a:t>Identify efficient methods of sensor recreation and error analysis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72187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79219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7D92D-6112-DB75-90E6-B25478126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 Reference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D29B19-1D80-6911-8BD7-6C264675E0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3913" y="1457160"/>
            <a:ext cx="3292062" cy="19662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7952A6D-2DB3-2E3A-6A66-529E7F8742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6471" y="2980567"/>
            <a:ext cx="2046652" cy="166534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08A1024-155D-B225-8534-71F875DEBF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3323" y="1457160"/>
            <a:ext cx="4019800" cy="130840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A2D3554-FD80-B53A-53EC-139AF42280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525" y="1457160"/>
            <a:ext cx="2140040" cy="3188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2946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C7D9C-3E11-6E37-B225-82A623B92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References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88B80C-E2A0-EE8E-9D0E-8348E77C97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16" y="1375444"/>
            <a:ext cx="6762984" cy="22684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913D6F5-6E56-E96C-0F26-6B2BA72F13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2204" y="1319997"/>
            <a:ext cx="4083260" cy="2559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13298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AE242-C112-401E-7C59-CCC41A501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C559E2-6C31-83A1-92F2-32EDB261F9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93291"/>
      </p:ext>
    </p:extLst>
  </p:cSld>
  <p:clrMapOvr>
    <a:masterClrMapping/>
  </p:clrMapOvr>
</p:sld>
</file>

<file path=ppt/theme/theme1.xml><?xml version="1.0" encoding="utf-8"?>
<a:theme xmlns:a="http://schemas.openxmlformats.org/drawingml/2006/main" name="INL 2020">
  <a:themeElements>
    <a:clrScheme name="INL 2020">
      <a:dk1>
        <a:srgbClr val="000000"/>
      </a:dk1>
      <a:lt1>
        <a:srgbClr val="FFFFFF"/>
      </a:lt1>
      <a:dk2>
        <a:srgbClr val="06509D"/>
      </a:dk2>
      <a:lt2>
        <a:srgbClr val="2CA8E1"/>
      </a:lt2>
      <a:accent1>
        <a:srgbClr val="8EC423"/>
      </a:accent1>
      <a:accent2>
        <a:srgbClr val="2CA8E1"/>
      </a:accent2>
      <a:accent3>
        <a:srgbClr val="832369"/>
      </a:accent3>
      <a:accent4>
        <a:srgbClr val="CF1D4C"/>
      </a:accent4>
      <a:accent5>
        <a:srgbClr val="F78E20"/>
      </a:accent5>
      <a:accent6>
        <a:srgbClr val="59595C"/>
      </a:accent6>
      <a:hlink>
        <a:srgbClr val="7F7F7F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L_2022_hexLight_wide-WEB" id="{02E20BC5-FEDE-CE44-9BE4-1CE6CB29BA3D}" vid="{E4378662-F895-C340-BA33-6EA5E69E43E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2391d807-f94f-4c4f-bb14-493106c624c2">
      <UserInfo>
        <DisplayName/>
        <AccountId xsi:nil="true"/>
        <AccountType/>
      </UserInfo>
    </SharedWithUsers>
    <TaxCatchAll xmlns="42ea9b75-b306-4826-8769-4c6ad6718b67" xsi:nil="true"/>
    <lcf76f155ced4ddcb4097134ff3c332f xmlns="2391d807-f94f-4c4f-bb14-493106c624c2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3797F432E2A042A124C0139981475A" ma:contentTypeVersion="14" ma:contentTypeDescription="Create a new document." ma:contentTypeScope="" ma:versionID="f98a91b6c1e71bbba55439f0a80a0573">
  <xsd:schema xmlns:xsd="http://www.w3.org/2001/XMLSchema" xmlns:xs="http://www.w3.org/2001/XMLSchema" xmlns:p="http://schemas.microsoft.com/office/2006/metadata/properties" xmlns:ns2="2391d807-f94f-4c4f-bb14-493106c624c2" xmlns:ns3="42ea9b75-b306-4826-8769-4c6ad6718b67" targetNamespace="http://schemas.microsoft.com/office/2006/metadata/properties" ma:root="true" ma:fieldsID="e10204a60157ce1d68d66ae7a68b8f6a" ns2:_="" ns3:_="">
    <xsd:import namespace="2391d807-f94f-4c4f-bb14-493106c624c2"/>
    <xsd:import namespace="42ea9b75-b306-4826-8769-4c6ad6718b6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91d807-f94f-4c4f-bb14-493106c624c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list="UserInfo" ma:SearchPeopleOnly="false" ma:internalName="SharedWithUse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lcf76f155ced4ddcb4097134ff3c332f" ma:index="10" nillable="true" ma:taxonomy="true" ma:internalName="lcf76f155ced4ddcb4097134ff3c332f" ma:taxonomyFieldName="MediaServiceImageTags" ma:displayName="Image Tags" ma:readOnly="false" ma:fieldId="{5cf76f15-5ced-4ddc-b409-7134ff3c332f}" ma:taxonomyMulti="true" ma:sspId="0b78db39-37aa-4e28-bb7e-9642684d42d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ea9b75-b306-4826-8769-4c6ad6718b67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hidden="true" ma:list="{2721504a-65bf-41e8-8385-5761431a3c1d}" ma:internalName="TaxCatchAll" ma:showField="CatchAllData" ma:web="42ea9b75-b306-4826-8769-4c6ad6718b6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2E72521-46AD-4BAF-8AA5-1067FA401909}">
  <ds:schemaRefs>
    <ds:schemaRef ds:uri="http://schemas.microsoft.com/office/2006/metadata/properties"/>
    <ds:schemaRef ds:uri="http://schemas.microsoft.com/office/infopath/2007/PartnerControls"/>
    <ds:schemaRef ds:uri="2391d807-f94f-4c4f-bb14-493106c624c2"/>
    <ds:schemaRef ds:uri="42ea9b75-b306-4826-8769-4c6ad6718b67"/>
  </ds:schemaRefs>
</ds:datastoreItem>
</file>

<file path=customXml/itemProps2.xml><?xml version="1.0" encoding="utf-8"?>
<ds:datastoreItem xmlns:ds="http://schemas.openxmlformats.org/officeDocument/2006/customXml" ds:itemID="{5B987B27-07C2-425E-9FC8-8EB9D2FCBB9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158C39C-6B2B-46C8-8FF5-4FF701DE8E5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391d807-f94f-4c4f-bb14-493106c624c2"/>
    <ds:schemaRef ds:uri="42ea9b75-b306-4826-8769-4c6ad6718b6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INL_2022_hexLight_wide_template</Template>
  <TotalTime>3195</TotalTime>
  <Words>786</Words>
  <Application>Microsoft Office PowerPoint</Application>
  <PresentationFormat>Widescreen</PresentationFormat>
  <Paragraphs>116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Arial</vt:lpstr>
      <vt:lpstr>Arial Narrow</vt:lpstr>
      <vt:lpstr>Calibri</vt:lpstr>
      <vt:lpstr>Cambria Math</vt:lpstr>
      <vt:lpstr>Myriad Pro Cond</vt:lpstr>
      <vt:lpstr>Times New Roman</vt:lpstr>
      <vt:lpstr>INL 2020</vt:lpstr>
      <vt:lpstr>PowerPoint Presentation</vt:lpstr>
      <vt:lpstr>Project Overview</vt:lpstr>
      <vt:lpstr>Heat Pipe-Integrated Thermal Battery (HITB)</vt:lpstr>
      <vt:lpstr>Natural Circulation Flow Loop(NCFL)</vt:lpstr>
      <vt:lpstr>Refined Dymola Model</vt:lpstr>
      <vt:lpstr>Additional Features of the NCFL Model</vt:lpstr>
      <vt:lpstr>Long-Term System Stability in Dymola</vt:lpstr>
      <vt:lpstr>Adaptive Heating</vt:lpstr>
      <vt:lpstr>Python Integration of NCFL</vt:lpstr>
      <vt:lpstr>Experimental Data Campaign (UTK)</vt:lpstr>
      <vt:lpstr>DeepLynx integration </vt:lpstr>
      <vt:lpstr>Morris Sensitivity Analysis and Sensor Output Recreation  </vt:lpstr>
      <vt:lpstr>PowerPoint Presentation</vt:lpstr>
      <vt:lpstr>Component Reference</vt:lpstr>
      <vt:lpstr>Python References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Hari Vishwa Naicker</dc:creator>
  <cp:keywords/>
  <dc:description/>
  <cp:lastModifiedBy>Hari Vishwa Naicker</cp:lastModifiedBy>
  <cp:revision>23</cp:revision>
  <dcterms:created xsi:type="dcterms:W3CDTF">2026-07-21T14:44:33Z</dcterms:created>
  <dcterms:modified xsi:type="dcterms:W3CDTF">2026-07-23T20:00:22Z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0x010100803797F432E2A042A124C0139981475A</vt:lpwstr>
  </property>
  <property fmtid="{D5CDD505-2E9C-101B-9397-08002B2CF9AE}" pid="3" name="Order">
    <vt:r8>73000</vt:r8>
  </property>
</Properties>
</file>