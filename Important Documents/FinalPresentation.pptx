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25"/>
  </p:notesMasterIdLst>
  <p:sldIdLst>
    <p:sldId id="256" r:id="rId5"/>
    <p:sldId id="257" r:id="rId6"/>
    <p:sldId id="260" r:id="rId7"/>
    <p:sldId id="259" r:id="rId8"/>
    <p:sldId id="262" r:id="rId9"/>
    <p:sldId id="273" r:id="rId10"/>
    <p:sldId id="263" r:id="rId11"/>
    <p:sldId id="269" r:id="rId12"/>
    <p:sldId id="270" r:id="rId13"/>
    <p:sldId id="264" r:id="rId14"/>
    <p:sldId id="266" r:id="rId15"/>
    <p:sldId id="265" r:id="rId16"/>
    <p:sldId id="2146849030" r:id="rId17"/>
    <p:sldId id="267" r:id="rId18"/>
    <p:sldId id="258" r:id="rId19"/>
    <p:sldId id="2146849027" r:id="rId20"/>
    <p:sldId id="2146849028" r:id="rId21"/>
    <p:sldId id="2146849029" r:id="rId22"/>
    <p:sldId id="271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icker, Hari" userId="28a88796-9fc2-4e99-a69f-8590e44eee1e" providerId="ADAL" clId="{D82EC95C-9AFB-47B9-B50E-3C2514223BF4}"/>
    <pc:docChg chg="modSld">
      <pc:chgData name="Naicker, Hari" userId="28a88796-9fc2-4e99-a69f-8590e44eee1e" providerId="ADAL" clId="{D82EC95C-9AFB-47B9-B50E-3C2514223BF4}" dt="2026-08-31T13:01:58.965" v="51" actId="20577"/>
      <pc:docMkLst>
        <pc:docMk/>
      </pc:docMkLst>
      <pc:sldChg chg="addSp modSp mod">
        <pc:chgData name="Naicker, Hari" userId="28a88796-9fc2-4e99-a69f-8590e44eee1e" providerId="ADAL" clId="{D82EC95C-9AFB-47B9-B50E-3C2514223BF4}" dt="2026-08-31T13:01:58.965" v="51" actId="20577"/>
        <pc:sldMkLst>
          <pc:docMk/>
          <pc:sldMk cId="2525032896" sldId="2146849030"/>
        </pc:sldMkLst>
        <pc:spChg chg="add mod">
          <ac:chgData name="Naicker, Hari" userId="28a88796-9fc2-4e99-a69f-8590e44eee1e" providerId="ADAL" clId="{D82EC95C-9AFB-47B9-B50E-3C2514223BF4}" dt="2026-08-31T13:01:50.107" v="44" actId="14100"/>
          <ac:spMkLst>
            <pc:docMk/>
            <pc:sldMk cId="2525032896" sldId="2146849030"/>
            <ac:spMk id="6" creationId="{7EE1748C-5A26-E776-0AAE-D2A4958785C1}"/>
          </ac:spMkLst>
        </pc:spChg>
        <pc:spChg chg="add mod">
          <ac:chgData name="Naicker, Hari" userId="28a88796-9fc2-4e99-a69f-8590e44eee1e" providerId="ADAL" clId="{D82EC95C-9AFB-47B9-B50E-3C2514223BF4}" dt="2026-08-31T13:01:58.965" v="51" actId="20577"/>
          <ac:spMkLst>
            <pc:docMk/>
            <pc:sldMk cId="2525032896" sldId="2146849030"/>
            <ac:spMk id="9" creationId="{2AFC3241-7BD9-9030-90A3-BE1CB2EDADC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connect the facility instrumentation to the digital twin model, we’ve developed a structured data and control workflow using Node-RED, the MQTT messaging protocol, as well as INL's DeepLynx Nexus data warehouse. Thermocouple data, strain gauge readings, and operating state information are collected at the facility, packaged by Node-RED as structured, timestamped messages, and published to an MQTT broker. A DeepLynx Nexus adapter then validates incoming messages, maps sensor fields to the data model, and writes records to DeepLynx for persistent storage.</a:t>
            </a:r>
          </a:p>
          <a:p>
            <a:endParaRPr lang="en-US"/>
          </a:p>
          <a:p>
            <a:r>
              <a:rPr lang="en-US"/>
              <a:t>Also, to be noticed, this architecture supports two parallel analytics paths. In the near-real-time path, live sensor streams feed online prognostics and health management functions — including health state classification, anomaly detection, and so on. In the batched data analytics path, historical data stored in DeepLynx supports Python-Dymola model calibration and validation, scientific ML model updates, and remaining useful life forecasting. The separation of fast monitoring from computationally heavier model-updating tasks is a </a:t>
            </a:r>
            <a:r>
              <a:rPr lang="en-US" err="1"/>
              <a:t>de’liberate</a:t>
            </a:r>
            <a:r>
              <a:rPr lang="en-US"/>
              <a:t> design choice. 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This data infrastructure will be tested and ready to stream live facility data when the HITB experimental campaign begins this summer.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C8934-3BC4-8546-97F7-B3C25710E6E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38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title</a:t>
            </a:r>
          </a:p>
          <a:p>
            <a:pPr lvl="1"/>
            <a:r>
              <a:rPr lang="en-US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FFBDF4-D027-5540-A4D0-49BD3CCE65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37145" y="2057583"/>
            <a:ext cx="9354855" cy="2292350"/>
          </a:xfrm>
        </p:spPr>
        <p:txBody>
          <a:bodyPr/>
          <a:lstStyle/>
          <a:p>
            <a:r>
              <a:rPr lang="en-US"/>
              <a:t>Natural Circulation Flow Loop Digital Twin Development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FA6BA-7AEF-C349-A828-FB83B670B5C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2232" y="102920"/>
            <a:ext cx="2541981" cy="2096069"/>
          </a:xfrm>
        </p:spPr>
        <p:txBody>
          <a:bodyPr/>
          <a:lstStyle/>
          <a:p>
            <a:r>
              <a:rPr lang="en-US" sz="1400" b="0"/>
              <a:t>August 3, 2026</a:t>
            </a:r>
          </a:p>
          <a:p>
            <a:pPr>
              <a:spcBef>
                <a:spcPts val="2000"/>
              </a:spcBef>
            </a:pPr>
            <a:r>
              <a:rPr lang="en-US"/>
              <a:t>Hari Naicker</a:t>
            </a:r>
          </a:p>
          <a:p>
            <a:pPr>
              <a:spcBef>
                <a:spcPts val="500"/>
              </a:spcBef>
            </a:pPr>
            <a:r>
              <a:rPr lang="en-US" b="0"/>
              <a:t>Undergraduate Technical Intern – C130</a:t>
            </a:r>
          </a:p>
          <a:p>
            <a:pPr>
              <a:spcBef>
                <a:spcPts val="500"/>
              </a:spcBef>
            </a:pPr>
            <a:r>
              <a:rPr lang="en-US" b="0"/>
              <a:t>Mentor: Dr. </a:t>
            </a:r>
            <a:r>
              <a:rPr lang="en-US" b="0" err="1"/>
              <a:t>Sunming</a:t>
            </a:r>
            <a:r>
              <a:rPr lang="en-US" b="0"/>
              <a:t> Qin</a:t>
            </a:r>
          </a:p>
          <a:p>
            <a:pPr>
              <a:spcBef>
                <a:spcPts val="500"/>
              </a:spcBef>
            </a:pPr>
            <a:endParaRPr lang="en-US" b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AA295-175E-7601-8A85-E5850ACAFA8E}"/>
              </a:ext>
            </a:extLst>
          </p:cNvPr>
          <p:cNvSpPr txBox="1"/>
          <p:nvPr/>
        </p:nvSpPr>
        <p:spPr>
          <a:xfrm>
            <a:off x="47842" y="6354233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INL/MIS-26-94319</a:t>
            </a:r>
          </a:p>
        </p:txBody>
      </p:sp>
    </p:spTree>
    <p:extLst>
      <p:ext uri="{BB962C8B-B14F-4D97-AF65-F5344CB8AC3E}">
        <p14:creationId xmlns:p14="http://schemas.microsoft.com/office/powerpoint/2010/main" val="1665996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13701-5DFC-A845-ABEE-258D0E31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3E1C6-BA43-104A-8ACE-1179C840E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4438183" cy="4351338"/>
          </a:xfrm>
        </p:spPr>
        <p:txBody>
          <a:bodyPr/>
          <a:lstStyle/>
          <a:p>
            <a:r>
              <a:rPr lang="en-US"/>
              <a:t>The objective is to develop a hierarchical digital twin (DT) with:</a:t>
            </a:r>
          </a:p>
          <a:p>
            <a:pPr lvl="1"/>
            <a:r>
              <a:rPr lang="en-US" sz="1800"/>
              <a:t>Integrated physics-based models (</a:t>
            </a:r>
            <a:r>
              <a:rPr lang="en-US" sz="1800" err="1"/>
              <a:t>Dymola</a:t>
            </a:r>
            <a:r>
              <a:rPr lang="en-US" sz="1800"/>
              <a:t>)</a:t>
            </a:r>
          </a:p>
          <a:p>
            <a:pPr lvl="1"/>
            <a:r>
              <a:rPr lang="en-US" sz="1800"/>
              <a:t>Scientific machine learning for data-driven models</a:t>
            </a:r>
          </a:p>
          <a:p>
            <a:r>
              <a:rPr lang="en-US"/>
              <a:t>Focus on components such as valves, heat exchangers, and pumps</a:t>
            </a:r>
          </a:p>
          <a:p>
            <a:r>
              <a:rPr lang="en-US"/>
              <a:t>Data and knowledge base for an assortment of failure modes</a:t>
            </a:r>
          </a:p>
          <a:p>
            <a:pPr lvl="1"/>
            <a:r>
              <a:rPr lang="en-US" sz="1800"/>
              <a:t>Component failure</a:t>
            </a:r>
          </a:p>
          <a:p>
            <a:pPr lvl="1"/>
            <a:r>
              <a:rPr lang="en-US" sz="1800"/>
              <a:t>Flow anomalies</a:t>
            </a:r>
          </a:p>
          <a:p>
            <a:pPr lvl="1"/>
            <a:r>
              <a:rPr lang="en-US" sz="1800"/>
              <a:t>Thermal degradation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E83D6-0EBA-6AA2-79E7-B53AA6E15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266" y="1567399"/>
            <a:ext cx="6256417" cy="393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93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EE047-725E-82CA-5C4E-FE0B943A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Heat Pipe-Integrated Thermal Battery (HITB)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39AD9-25E5-EFD2-F1E6-772872853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6092042" cy="4351338"/>
          </a:xfrm>
        </p:spPr>
        <p:txBody>
          <a:bodyPr/>
          <a:lstStyle/>
          <a:p>
            <a:r>
              <a:rPr lang="en-US"/>
              <a:t>Located at the IEDF and constructed out of stainless steel 316</a:t>
            </a:r>
          </a:p>
          <a:p>
            <a:r>
              <a:rPr lang="en-US"/>
              <a:t>30 kWh latent heat thermal energy storage with 3 heat pipes</a:t>
            </a:r>
          </a:p>
          <a:p>
            <a:pPr lvl="1"/>
            <a:r>
              <a:rPr lang="en-US" sz="1800"/>
              <a:t>Uses Al(59%)-Mg(35%)-Zn(6%) which is a eutectic metal alloy</a:t>
            </a:r>
          </a:p>
          <a:p>
            <a:r>
              <a:rPr lang="en-US"/>
              <a:t>During charging and discharging modes:</a:t>
            </a:r>
          </a:p>
          <a:p>
            <a:pPr lvl="1"/>
            <a:r>
              <a:rPr lang="en-US" sz="1800"/>
              <a:t>Simulate thermal stress and degradation</a:t>
            </a:r>
            <a:endParaRPr lang="en-US"/>
          </a:p>
          <a:p>
            <a:r>
              <a:rPr lang="en-US"/>
              <a:t>Temperature measurements taken throughout system </a:t>
            </a:r>
          </a:p>
          <a:p>
            <a:pPr lvl="1"/>
            <a:r>
              <a:rPr lang="en-US" sz="1800"/>
              <a:t>Evaluate heat pipe performance and anomalies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0C3E101-6E15-B81A-6311-C186BEB50528}"/>
              </a:ext>
            </a:extLst>
          </p:cNvPr>
          <p:cNvGrpSpPr/>
          <p:nvPr/>
        </p:nvGrpSpPr>
        <p:grpSpPr>
          <a:xfrm>
            <a:off x="7613812" y="1006961"/>
            <a:ext cx="4114800" cy="2552668"/>
            <a:chOff x="7518809" y="876332"/>
            <a:chExt cx="4114800" cy="255266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B803D2-829E-1BA5-A0E7-A64F12CE7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" r="103" b="8917"/>
            <a:stretch>
              <a:fillRect/>
            </a:stretch>
          </p:blipFill>
          <p:spPr>
            <a:xfrm>
              <a:off x="7518809" y="876332"/>
              <a:ext cx="4114800" cy="22860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88EA4B-6EB6-C9BD-4343-D52E0A9975BE}"/>
                </a:ext>
              </a:extLst>
            </p:cNvPr>
            <p:cNvSpPr txBox="1"/>
            <p:nvPr/>
          </p:nvSpPr>
          <p:spPr>
            <a:xfrm>
              <a:off x="7518809" y="3059668"/>
              <a:ext cx="4114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/>
                <a:t>Operational diagram of HITB facility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B515F08-9EE2-6944-884D-3E83E1FA6377}"/>
              </a:ext>
            </a:extLst>
          </p:cNvPr>
          <p:cNvGrpSpPr/>
          <p:nvPr/>
        </p:nvGrpSpPr>
        <p:grpSpPr>
          <a:xfrm>
            <a:off x="8139154" y="3559629"/>
            <a:ext cx="3064115" cy="2662239"/>
            <a:chOff x="8044151" y="3429000"/>
            <a:chExt cx="3064115" cy="266223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700C45A-48E7-3D52-6EB4-6560376D1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44151" y="3429000"/>
              <a:ext cx="3064115" cy="229863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08140E-A516-A16C-4543-3272E8B4A624}"/>
                </a:ext>
              </a:extLst>
            </p:cNvPr>
            <p:cNvSpPr txBox="1"/>
            <p:nvPr/>
          </p:nvSpPr>
          <p:spPr>
            <a:xfrm>
              <a:off x="8044151" y="5721907"/>
              <a:ext cx="30641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/>
                <a:t>Picture of HITB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8840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EFD83-FE4E-8FF1-0E0D-B9642CC7B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Natural Circulation Flow Loop (NCFL)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12497-1BC4-4D68-5AC7-97DF93BE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49" y="1291168"/>
            <a:ext cx="6206837" cy="4351338"/>
          </a:xfrm>
        </p:spPr>
        <p:txBody>
          <a:bodyPr/>
          <a:lstStyle/>
          <a:p>
            <a:r>
              <a:rPr lang="en-US"/>
              <a:t>Located in ZEC building at UTK</a:t>
            </a:r>
          </a:p>
          <a:p>
            <a:r>
              <a:rPr lang="en-US"/>
              <a:t>Components:</a:t>
            </a:r>
          </a:p>
          <a:p>
            <a:pPr lvl="1"/>
            <a:r>
              <a:rPr lang="en-US" sz="1800"/>
              <a:t>3 x 5.5 kW heaters</a:t>
            </a:r>
          </a:p>
          <a:p>
            <a:pPr lvl="1"/>
            <a:r>
              <a:rPr lang="en-US" sz="1800"/>
              <a:t>Shell-tube heat exchanger</a:t>
            </a:r>
          </a:p>
          <a:p>
            <a:pPr lvl="1"/>
            <a:r>
              <a:rPr lang="en-US" sz="1800"/>
              <a:t>30 GPM centrifugal pump (for forced circulation)</a:t>
            </a:r>
          </a:p>
          <a:p>
            <a:pPr lvl="1"/>
            <a:r>
              <a:rPr lang="en-US" sz="1800"/>
              <a:t>6 thermocouples</a:t>
            </a:r>
          </a:p>
          <a:p>
            <a:pPr lvl="1"/>
            <a:r>
              <a:rPr lang="en-US" sz="1800"/>
              <a:t>Electromagnetic and ultrasonic flow sensors</a:t>
            </a:r>
          </a:p>
          <a:p>
            <a:r>
              <a:rPr lang="en-US"/>
              <a:t>Comprised primarily of CPVC and uses water as the flow medium</a:t>
            </a:r>
          </a:p>
          <a:p>
            <a:r>
              <a:rPr lang="en-US"/>
              <a:t>Two channels at the bottom for induced and natural flow</a:t>
            </a:r>
          </a:p>
          <a:p>
            <a:r>
              <a:rPr lang="en-US"/>
              <a:t>Opening at top of loop exposed to atmosphere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6C61F8-8825-43E3-9B98-FA912F8A2A1B}"/>
              </a:ext>
            </a:extLst>
          </p:cNvPr>
          <p:cNvGrpSpPr/>
          <p:nvPr/>
        </p:nvGrpSpPr>
        <p:grpSpPr>
          <a:xfrm>
            <a:off x="7713298" y="558602"/>
            <a:ext cx="1812857" cy="5546182"/>
            <a:chOff x="7776633" y="416984"/>
            <a:chExt cx="1812857" cy="554618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D631CD5-CD55-98B7-2293-DB3A9196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76633" y="416984"/>
              <a:ext cx="1812857" cy="514293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78E56F-3F29-2BD2-0109-FA43EF42CA77}"/>
                </a:ext>
              </a:extLst>
            </p:cNvPr>
            <p:cNvSpPr txBox="1"/>
            <p:nvPr/>
          </p:nvSpPr>
          <p:spPr>
            <a:xfrm>
              <a:off x="7776633" y="5593834"/>
              <a:ext cx="18128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/>
                <a:t>Image of NCFL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CB7757-2970-BE9F-6ED4-680E2CD03B8C}"/>
              </a:ext>
            </a:extLst>
          </p:cNvPr>
          <p:cNvGrpSpPr/>
          <p:nvPr/>
        </p:nvGrpSpPr>
        <p:grpSpPr>
          <a:xfrm>
            <a:off x="9837276" y="558602"/>
            <a:ext cx="1812857" cy="5514479"/>
            <a:chOff x="9837276" y="416421"/>
            <a:chExt cx="1812857" cy="551447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0DD0AE4-8ED6-50EC-7F79-047F58CCB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66472" y="416421"/>
              <a:ext cx="1485095" cy="51434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F392AFE-72FB-A1A4-822E-2B83D87197E6}"/>
                </a:ext>
              </a:extLst>
            </p:cNvPr>
            <p:cNvSpPr txBox="1"/>
            <p:nvPr/>
          </p:nvSpPr>
          <p:spPr>
            <a:xfrm>
              <a:off x="9837276" y="5561568"/>
              <a:ext cx="18128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/>
                <a:t>CAD of NCFL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073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0E91-DF7D-8F05-9383-1C7D4FE4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Refined </a:t>
            </a:r>
            <a:r>
              <a:rPr lang="en-US" err="1"/>
              <a:t>Dymola</a:t>
            </a:r>
            <a:r>
              <a:rPr lang="en-US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101DA-639A-610B-6DE8-956FB31A2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160461"/>
            <a:ext cx="5001217" cy="4351338"/>
          </a:xfrm>
        </p:spPr>
        <p:txBody>
          <a:bodyPr/>
          <a:lstStyle/>
          <a:p>
            <a:r>
              <a:rPr lang="en-US"/>
              <a:t>Physical dimensions with integrated control system (CS)</a:t>
            </a:r>
          </a:p>
          <a:p>
            <a:pPr lvl="1"/>
            <a:r>
              <a:rPr lang="en-US" sz="1800"/>
              <a:t>Certain component parameters controlled by CS (Pump and heater power and valve openings)</a:t>
            </a:r>
          </a:p>
          <a:p>
            <a:r>
              <a:rPr lang="en-US"/>
              <a:t>Does not model the secondary loop with any detail and the heat exchanger uses values for aluminum</a:t>
            </a:r>
          </a:p>
          <a:p>
            <a:r>
              <a:rPr lang="en-US"/>
              <a:t>Spout at top of loop not modelled other than by setting loop to atmospheric temperature</a:t>
            </a:r>
          </a:p>
          <a:p>
            <a:r>
              <a:rPr lang="en-US"/>
              <a:t>Custom components for:</a:t>
            </a:r>
          </a:p>
          <a:p>
            <a:pPr lvl="1"/>
            <a:r>
              <a:rPr lang="en-US" sz="1800"/>
              <a:t>Heaters</a:t>
            </a:r>
          </a:p>
          <a:p>
            <a:pPr lvl="1"/>
            <a:r>
              <a:rPr lang="en-US" sz="1800"/>
              <a:t>Heat exchanger (HX)</a:t>
            </a:r>
          </a:p>
          <a:p>
            <a:pPr lvl="1"/>
            <a:r>
              <a:rPr lang="en-US" sz="1800"/>
              <a:t>Jet pump</a:t>
            </a:r>
          </a:p>
          <a:p>
            <a:pPr lvl="1"/>
            <a:r>
              <a:rPr lang="en-US" sz="1800"/>
              <a:t>Control system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855BA7-D01A-88BF-0E82-E1DF12A88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068" y="317236"/>
            <a:ext cx="5043778" cy="51945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E39D61-E327-E1F2-8D08-E025DE2D936B}"/>
              </a:ext>
            </a:extLst>
          </p:cNvPr>
          <p:cNvSpPr txBox="1"/>
          <p:nvPr/>
        </p:nvSpPr>
        <p:spPr>
          <a:xfrm>
            <a:off x="6949068" y="5511799"/>
            <a:ext cx="5043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err="1"/>
              <a:t>Dymola</a:t>
            </a:r>
            <a:r>
              <a:rPr lang="en-US" sz="1800" b="1"/>
              <a:t> Model for the NCFL</a:t>
            </a:r>
          </a:p>
        </p:txBody>
      </p:sp>
    </p:spTree>
    <p:extLst>
      <p:ext uri="{BB962C8B-B14F-4D97-AF65-F5344CB8AC3E}">
        <p14:creationId xmlns:p14="http://schemas.microsoft.com/office/powerpoint/2010/main" val="341663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9C35F-FA7C-4122-C357-8615A788A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Natural Circulation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EF53-DD22-FC12-C667-B6B6FAAC9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739901"/>
            <a:ext cx="5276384" cy="4351338"/>
          </a:xfrm>
        </p:spPr>
        <p:txBody>
          <a:bodyPr/>
          <a:lstStyle/>
          <a:p>
            <a:r>
              <a:rPr lang="en-US"/>
              <a:t>Natural circulation was simulated for a shorter duration with the pump signal turning off every 190 seconds</a:t>
            </a:r>
          </a:p>
          <a:p>
            <a:r>
              <a:rPr lang="en-US"/>
              <a:t>Simulations were able to run for 400 seconds before reverse flow was detected and the run was halted</a:t>
            </a:r>
          </a:p>
          <a:p>
            <a:r>
              <a:rPr lang="en-US"/>
              <a:t>Pump flow and corresponding valve opening were turned on and off at the same times to restrict flow to the upper channel.</a:t>
            </a:r>
          </a:p>
          <a:p>
            <a:r>
              <a:rPr lang="en-US"/>
              <a:t>Flow does not follow expected patterns (No momentum from pump activity, sudden velocity fall off)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349FD0-CE33-339A-98DB-F1CB5892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93" y="133566"/>
            <a:ext cx="3823553" cy="28676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A1A7E7-D3B7-2436-463C-036490277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93" y="3091343"/>
            <a:ext cx="3882820" cy="29121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321E23-BEC3-E31A-D364-8797B059355C}"/>
              </a:ext>
            </a:extLst>
          </p:cNvPr>
          <p:cNvSpPr txBox="1"/>
          <p:nvPr/>
        </p:nvSpPr>
        <p:spPr>
          <a:xfrm>
            <a:off x="7526662" y="2877010"/>
            <a:ext cx="37768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Temperature difference for each leg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17F5A7-5EDE-F091-27AA-B8FD12D1D73F}"/>
              </a:ext>
            </a:extLst>
          </p:cNvPr>
          <p:cNvSpPr txBox="1"/>
          <p:nvPr/>
        </p:nvSpPr>
        <p:spPr>
          <a:xfrm>
            <a:off x="7609299" y="5880321"/>
            <a:ext cx="39129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Volume flow difference for each valve</a:t>
            </a:r>
          </a:p>
        </p:txBody>
      </p:sp>
    </p:spTree>
    <p:extLst>
      <p:ext uri="{BB962C8B-B14F-4D97-AF65-F5344CB8AC3E}">
        <p14:creationId xmlns:p14="http://schemas.microsoft.com/office/powerpoint/2010/main" val="305466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FB5F-0FB2-4B70-A1C7-FBA3BD37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Features of the NCFL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BFA4E-984E-FDFE-FD57-27A4C720F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089" y="1486561"/>
            <a:ext cx="6140754" cy="4351338"/>
          </a:xfrm>
        </p:spPr>
        <p:txBody>
          <a:bodyPr/>
          <a:lstStyle/>
          <a:p>
            <a:r>
              <a:rPr lang="en-US"/>
              <a:t>Interchangeable CS modules</a:t>
            </a:r>
          </a:p>
          <a:p>
            <a:pPr lvl="1"/>
            <a:r>
              <a:rPr lang="en-US" sz="1800"/>
              <a:t>Different test cases that are independent of experimental data</a:t>
            </a:r>
          </a:p>
          <a:p>
            <a:r>
              <a:rPr lang="en-US"/>
              <a:t>Data card that allows for changes in:</a:t>
            </a:r>
          </a:p>
          <a:p>
            <a:pPr lvl="1"/>
            <a:r>
              <a:rPr lang="en-US" sz="1800"/>
              <a:t>Dimensions of components</a:t>
            </a:r>
          </a:p>
          <a:p>
            <a:pPr lvl="1"/>
            <a:r>
              <a:rPr lang="en-US" sz="1800"/>
              <a:t>Material of pipes</a:t>
            </a:r>
          </a:p>
          <a:p>
            <a:pPr lvl="1"/>
            <a:r>
              <a:rPr lang="en-US" sz="1800"/>
              <a:t>Heat transfer between components</a:t>
            </a:r>
          </a:p>
          <a:p>
            <a:r>
              <a:rPr lang="en-US"/>
              <a:t>Dynamic CS</a:t>
            </a:r>
          </a:p>
          <a:p>
            <a:pPr lvl="1"/>
            <a:r>
              <a:rPr lang="en-US" sz="1800"/>
              <a:t>Ease of replication for experimental data</a:t>
            </a:r>
          </a:p>
          <a:p>
            <a:pPr lvl="1"/>
            <a:r>
              <a:rPr lang="en-US" sz="1800"/>
              <a:t>Can input data series for component actuator signals</a:t>
            </a:r>
          </a:p>
          <a:p>
            <a:r>
              <a:rPr lang="en-US"/>
              <a:t>Modular design</a:t>
            </a:r>
            <a:endParaRPr lang="en-US" sz="1800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358F9-B890-FA85-7B90-685E4609A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220" y="574689"/>
            <a:ext cx="2123424" cy="25725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9D588B-9AC6-E08F-E936-266AFDAA5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013" y="574689"/>
            <a:ext cx="1838114" cy="25725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CA21B88-4011-E25C-BD46-EF23272E62A6}"/>
              </a:ext>
            </a:extLst>
          </p:cNvPr>
          <p:cNvSpPr txBox="1"/>
          <p:nvPr/>
        </p:nvSpPr>
        <p:spPr>
          <a:xfrm>
            <a:off x="7811220" y="3135536"/>
            <a:ext cx="2123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CS Dropdown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80FDDC-9595-44F2-9FBC-290674D8D5B5}"/>
              </a:ext>
            </a:extLst>
          </p:cNvPr>
          <p:cNvSpPr txBox="1"/>
          <p:nvPr/>
        </p:nvSpPr>
        <p:spPr>
          <a:xfrm>
            <a:off x="9966358" y="3135536"/>
            <a:ext cx="2123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Dynamic 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AF6E2B-1569-3EC0-97A0-1BCB4096983F}"/>
              </a:ext>
            </a:extLst>
          </p:cNvPr>
          <p:cNvSpPr txBox="1"/>
          <p:nvPr/>
        </p:nvSpPr>
        <p:spPr>
          <a:xfrm>
            <a:off x="7078904" y="5685932"/>
            <a:ext cx="50108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Example of variable inputs into the dynamic CS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F26F05C-B666-00DB-EFA8-002F2E44A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8796" y="5031775"/>
            <a:ext cx="2509282" cy="1673662"/>
          </a:xfrm>
          <a:prstGeom prst="rect">
            <a:avLst/>
          </a:prstGeom>
        </p:spPr>
      </p:pic>
      <p:pic>
        <p:nvPicPr>
          <p:cNvPr id="6" name="Picture 5" descr="The image is a graph displaying the temperature difference (in Kelvin) between a cold and a hot leg over time, showing a range from -0.05 K to -0.15 K.&#10;&#10;AI-generated content may be incorrect.">
            <a:extLst>
              <a:ext uri="{FF2B5EF4-FFF2-40B4-BE49-F238E27FC236}">
                <a16:creationId xmlns:a16="http://schemas.microsoft.com/office/drawing/2014/main" id="{6F601FEF-1AA5-1AE3-87D2-544A0516C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8904" y="3795893"/>
            <a:ext cx="2520052" cy="1890039"/>
          </a:xfrm>
          <a:prstGeom prst="rect">
            <a:avLst/>
          </a:prstGeom>
        </p:spPr>
      </p:pic>
      <p:pic>
        <p:nvPicPr>
          <p:cNvPr id="10" name="Picture 9" descr="The image shows a graph comparing the flow rates of top and bottom valves over time, indicating a slight difference in flow volume.&#10;&#10;AI-generated content may be incorrect.">
            <a:extLst>
              <a:ext uri="{FF2B5EF4-FFF2-40B4-BE49-F238E27FC236}">
                <a16:creationId xmlns:a16="http://schemas.microsoft.com/office/drawing/2014/main" id="{5F4E1DF3-E633-0BD5-9D27-AA9C338A06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8956" y="3795893"/>
            <a:ext cx="2520053" cy="189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561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42B1-5EEF-0F44-2C15-67E1ED72F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Long-Term System Stability in Dymola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8B6FE-2634-511C-5377-A4492BF6B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304" y="1411589"/>
            <a:ext cx="6719991" cy="4351338"/>
          </a:xfrm>
        </p:spPr>
        <p:txBody>
          <a:bodyPr/>
          <a:lstStyle/>
          <a:p>
            <a:r>
              <a:rPr lang="en-US"/>
              <a:t>Ran simulations at a maximum of 18,000 seconds (5 hours) in simulated time</a:t>
            </a:r>
          </a:p>
          <a:p>
            <a:r>
              <a:rPr lang="en-US"/>
              <a:t>Reversible flow was detected at various points and rectified</a:t>
            </a:r>
          </a:p>
          <a:p>
            <a:pPr lvl="1"/>
            <a:r>
              <a:rPr lang="en-US" sz="1800"/>
              <a:t>Due to mismatches in heating compared to flow rate</a:t>
            </a:r>
          </a:p>
          <a:p>
            <a:pPr lvl="1"/>
            <a:r>
              <a:rPr lang="en-US" sz="1800"/>
              <a:t>Can be remedied with dynamic control of heater power based on detected mass flow in the system</a:t>
            </a:r>
          </a:p>
          <a:p>
            <a:r>
              <a:rPr lang="en-US"/>
              <a:t>System can reach steady-state with nominal conditions and all valves being opened</a:t>
            </a:r>
          </a:p>
          <a:p>
            <a:r>
              <a:rPr lang="en-US"/>
              <a:t>Longer simulations with natural circulation and/or dynamic values are not stable and computation time increases drastically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51BE12-DAB5-1DC2-D335-91E83085B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04" y="6055315"/>
            <a:ext cx="4502381" cy="596931"/>
          </a:xfrm>
          <a:prstGeom prst="rect">
            <a:avLst/>
          </a:prstGeom>
        </p:spPr>
      </p:pic>
      <p:pic>
        <p:nvPicPr>
          <p:cNvPr id="6" name="Picture 5" descr="The diagram shows a graph with temperature differences (NCFL) plotted against time (seconds), ranging from -0.1 to 17.5 with intervals of 0.2, indicating a temporal analysis of temperature changes.&#10;&#10;AI-generated content may be incorrect.">
            <a:extLst>
              <a:ext uri="{FF2B5EF4-FFF2-40B4-BE49-F238E27FC236}">
                <a16:creationId xmlns:a16="http://schemas.microsoft.com/office/drawing/2014/main" id="{4DFA3200-E5A4-2B59-445C-D94765498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380" y="152591"/>
            <a:ext cx="3579266" cy="2684450"/>
          </a:xfrm>
          <a:prstGeom prst="rect">
            <a:avLst/>
          </a:prstGeom>
        </p:spPr>
      </p:pic>
      <p:pic>
        <p:nvPicPr>
          <p:cNvPr id="11" name="Picture 10" descr="The image displays a graph comparing the flow difference (NCFL) in mￂﾳ/s for two valves (Top and Bottom) over a range of time in seconds.&#10;&#10;AI-generated content may be incorrect.">
            <a:extLst>
              <a:ext uri="{FF2B5EF4-FFF2-40B4-BE49-F238E27FC236}">
                <a16:creationId xmlns:a16="http://schemas.microsoft.com/office/drawing/2014/main" id="{212BBB56-DAEF-445C-9674-10857EF9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380" y="2896204"/>
            <a:ext cx="3579266" cy="26844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C02A73-6CA6-3A23-097B-70F5ED60C137}"/>
              </a:ext>
            </a:extLst>
          </p:cNvPr>
          <p:cNvSpPr txBox="1"/>
          <p:nvPr/>
        </p:nvSpPr>
        <p:spPr>
          <a:xfrm>
            <a:off x="7931379" y="2733637"/>
            <a:ext cx="37768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Temperature difference for each leg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C5CE6-5A18-BB21-52BE-1AFAF0137FBB}"/>
              </a:ext>
            </a:extLst>
          </p:cNvPr>
          <p:cNvSpPr txBox="1"/>
          <p:nvPr/>
        </p:nvSpPr>
        <p:spPr>
          <a:xfrm>
            <a:off x="7785970" y="5470540"/>
            <a:ext cx="3776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Volume flow rate difference for each valve</a:t>
            </a:r>
          </a:p>
        </p:txBody>
      </p:sp>
    </p:spTree>
    <p:extLst>
      <p:ext uri="{BB962C8B-B14F-4D97-AF65-F5344CB8AC3E}">
        <p14:creationId xmlns:p14="http://schemas.microsoft.com/office/powerpoint/2010/main" val="1522929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0E4FD-3105-AAC8-511E-AFDD3823D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Adaptive Heating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E4870-C8B1-E04D-B0E1-A5FDCD7E8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Still in progress feature for the </a:t>
            </a:r>
            <a:r>
              <a:rPr lang="en-US" err="1"/>
              <a:t>Dymola</a:t>
            </a:r>
            <a:r>
              <a:rPr lang="en-US"/>
              <a:t> NCFL model</a:t>
            </a:r>
          </a:p>
          <a:p>
            <a:r>
              <a:rPr lang="en-US"/>
              <a:t>Developing PI&amp;D control for the relationship between the heating rate and pump mass flow</a:t>
            </a:r>
          </a:p>
          <a:p>
            <a:r>
              <a:rPr lang="en-US"/>
              <a:t>Heaters will automatically adjust power based on the flow rate of the pump</a:t>
            </a:r>
          </a:p>
          <a:p>
            <a:r>
              <a:rPr lang="en-US"/>
              <a:t>This will be a future extension as the heaters in the NCFL do not have complex control implemented physically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2D5F2D-33A3-7A84-4085-D353187B5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490" y="4060660"/>
            <a:ext cx="4019800" cy="13084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2978E2-F955-C7DB-0DB3-A3E0BC003F11}"/>
              </a:ext>
            </a:extLst>
          </p:cNvPr>
          <p:cNvSpPr txBox="1"/>
          <p:nvPr/>
        </p:nvSpPr>
        <p:spPr>
          <a:xfrm>
            <a:off x="1257490" y="5369066"/>
            <a:ext cx="401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/>
              <a:t>Adaptive Heating Component</a:t>
            </a:r>
          </a:p>
        </p:txBody>
      </p:sp>
    </p:spTree>
    <p:extLst>
      <p:ext uri="{BB962C8B-B14F-4D97-AF65-F5344CB8AC3E}">
        <p14:creationId xmlns:p14="http://schemas.microsoft.com/office/powerpoint/2010/main" val="2798671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4D27-5845-04C2-25E7-25120C25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Integration of NCFL Dymola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F7773-5749-C5FC-3CB6-CEB80BF83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739901"/>
            <a:ext cx="10415648" cy="4351338"/>
          </a:xfrm>
        </p:spPr>
        <p:txBody>
          <a:bodyPr/>
          <a:lstStyle/>
          <a:p>
            <a:r>
              <a:rPr lang="en-US"/>
              <a:t>Developed a Python script to run simulations of the NCFL model</a:t>
            </a:r>
          </a:p>
          <a:p>
            <a:r>
              <a:rPr lang="en-US"/>
              <a:t>Standard script allows for:</a:t>
            </a:r>
          </a:p>
          <a:p>
            <a:pPr lvl="1"/>
            <a:r>
              <a:rPr lang="en-US" sz="1800"/>
              <a:t>Modifications to component details (Heater power, valve openings, flow rate)</a:t>
            </a:r>
          </a:p>
          <a:p>
            <a:pPr lvl="1"/>
            <a:r>
              <a:rPr lang="en-US" sz="1800"/>
              <a:t>Swapping CS modules to run different test cases directly from Python</a:t>
            </a:r>
          </a:p>
          <a:p>
            <a:r>
              <a:rPr lang="en-US"/>
              <a:t>When using dynamic CS modules, can swap out data series to compare different experimental cases</a:t>
            </a:r>
          </a:p>
          <a:p>
            <a:r>
              <a:rPr lang="en-US"/>
              <a:t>Will need to implement comparison study to determine differences between model and experimental results</a:t>
            </a:r>
          </a:p>
          <a:p>
            <a:pPr lvl="1"/>
            <a:r>
              <a:rPr lang="en-US" sz="1800"/>
              <a:t>Not yet tested as experimental campaign for the NCFL has not begun</a:t>
            </a:r>
          </a:p>
          <a:p>
            <a:pPr lvl="1"/>
            <a:r>
              <a:rPr lang="en-US" sz="1800"/>
              <a:t>Will utilize RMSE for standard comparisons</a:t>
            </a:r>
          </a:p>
        </p:txBody>
      </p:sp>
    </p:spTree>
    <p:extLst>
      <p:ext uri="{BB962C8B-B14F-4D97-AF65-F5344CB8AC3E}">
        <p14:creationId xmlns:p14="http://schemas.microsoft.com/office/powerpoint/2010/main" val="3135972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C3118-B3C3-219F-684F-6729969F1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Experimental Data Campaign (UTK)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1D05-1DE6-E1F9-42E4-22914F4D7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collection delayed because: </a:t>
            </a:r>
          </a:p>
          <a:p>
            <a:pPr lvl="1"/>
            <a:r>
              <a:rPr lang="en-US" sz="1800" dirty="0"/>
              <a:t>Multiple leaks detected due to expansion of pipe sealant due to heating</a:t>
            </a:r>
          </a:p>
          <a:p>
            <a:pPr lvl="1"/>
            <a:r>
              <a:rPr lang="en-US" sz="1800" dirty="0"/>
              <a:t>Data acquisition (DAQ) is not yet implemented through LabView</a:t>
            </a:r>
          </a:p>
          <a:p>
            <a:r>
              <a:rPr lang="en-US" dirty="0"/>
              <a:t>Once the loop is operational, will run cases to test:</a:t>
            </a:r>
          </a:p>
          <a:p>
            <a:pPr lvl="1"/>
            <a:r>
              <a:rPr lang="en-US" sz="1800" dirty="0"/>
              <a:t>All valves open with induced flow</a:t>
            </a:r>
          </a:p>
          <a:p>
            <a:pPr lvl="1"/>
            <a:r>
              <a:rPr lang="en-US" sz="1800" dirty="0"/>
              <a:t>Natural circulation through the top channel</a:t>
            </a:r>
          </a:p>
          <a:p>
            <a:pPr lvl="1"/>
            <a:r>
              <a:rPr lang="en-US" sz="1800" dirty="0"/>
              <a:t>Variable pump flow rate</a:t>
            </a:r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Dymola</a:t>
            </a:r>
            <a:r>
              <a:rPr lang="en-US" dirty="0"/>
              <a:t> model will also be compared with experimental data to validate results and to refine the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008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81CA4-AAA6-A984-6FC2-2D8E05B8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DeepLynx Integration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B525E-C640-B880-7658-1110B9564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038" y="1739901"/>
            <a:ext cx="6754555" cy="4351338"/>
          </a:xfrm>
        </p:spPr>
        <p:txBody>
          <a:bodyPr/>
          <a:lstStyle/>
          <a:p>
            <a:r>
              <a:rPr lang="en-US"/>
              <a:t>Develop a DeepLynx framework with the Python integration for the NCFL for automation </a:t>
            </a:r>
          </a:p>
          <a:p>
            <a:pPr lvl="1"/>
            <a:r>
              <a:rPr lang="en-US" sz="1800"/>
              <a:t>Automatic data storage and analysis from script outputs</a:t>
            </a:r>
          </a:p>
          <a:p>
            <a:pPr lvl="1"/>
            <a:r>
              <a:rPr lang="en-US" sz="1800"/>
              <a:t>Large scale simulations covering multiple test cases</a:t>
            </a:r>
          </a:p>
          <a:p>
            <a:r>
              <a:rPr lang="en-US"/>
              <a:t>Eventually connect data warehouse with LabView DAQ at UTK</a:t>
            </a:r>
          </a:p>
          <a:p>
            <a:r>
              <a:rPr lang="en-US"/>
              <a:t>Further extensions would involve exploring live streams of data, directly from the DAQ at the NCFL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630BC6-473F-D7E0-9EA0-56567E786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075" y="263422"/>
            <a:ext cx="3111550" cy="26660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D966E7-1B87-8A5E-5642-22926934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084" y="3349935"/>
            <a:ext cx="3924739" cy="24666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1A43B-074D-F38F-90AB-0F7D6F1A3C6B}"/>
              </a:ext>
            </a:extLst>
          </p:cNvPr>
          <p:cNvSpPr txBox="1"/>
          <p:nvPr/>
        </p:nvSpPr>
        <p:spPr>
          <a:xfrm>
            <a:off x="8565085" y="2855339"/>
            <a:ext cx="29355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Time-series Display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05ADC9-7B37-B3F3-1F80-DA57A955FCF7}"/>
              </a:ext>
            </a:extLst>
          </p:cNvPr>
          <p:cNvSpPr txBox="1"/>
          <p:nvPr/>
        </p:nvSpPr>
        <p:spPr>
          <a:xfrm>
            <a:off x="7841084" y="5816588"/>
            <a:ext cx="3924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/>
              <a:t>Time-series </a:t>
            </a:r>
            <a:r>
              <a:rPr lang="en-US" b="1"/>
              <a:t>R</a:t>
            </a:r>
            <a:r>
              <a:rPr lang="en-US" sz="1800" b="1"/>
              <a:t>elationship </a:t>
            </a:r>
            <a:r>
              <a:rPr lang="en-US" b="1"/>
              <a:t>G</a:t>
            </a:r>
            <a:r>
              <a:rPr lang="en-US" sz="1800" b="1"/>
              <a:t>raph</a:t>
            </a:r>
          </a:p>
        </p:txBody>
      </p:sp>
    </p:spTree>
    <p:extLst>
      <p:ext uri="{BB962C8B-B14F-4D97-AF65-F5344CB8AC3E}">
        <p14:creationId xmlns:p14="http://schemas.microsoft.com/office/powerpoint/2010/main" val="743128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99AD-053F-3E06-3FF1-2F81953B3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Reconstruction Work for HITB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310E7-A70C-1B3F-FC07-3CBDFBD56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Still in progress</a:t>
            </a:r>
          </a:p>
          <a:p>
            <a:r>
              <a:rPr lang="en-US" dirty="0"/>
              <a:t>Certain TCs within the HITB are offline</a:t>
            </a:r>
          </a:p>
          <a:p>
            <a:pPr lvl="1"/>
            <a:r>
              <a:rPr lang="en-US" dirty="0"/>
              <a:t>Using adjacent instrumentation to generate predictive readings </a:t>
            </a:r>
          </a:p>
          <a:p>
            <a:r>
              <a:rPr lang="en-US" dirty="0" err="1"/>
              <a:t>Linyu</a:t>
            </a:r>
            <a:r>
              <a:rPr lang="en-US" dirty="0"/>
              <a:t> has already done the charge cases, my responsibility is the discharge scenarios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0B4CAB-3224-7816-C511-CC7A0A63E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63" y="3574965"/>
            <a:ext cx="4794861" cy="21310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06F3D9-1115-07C4-485C-778E47146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574965"/>
            <a:ext cx="4794861" cy="2131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E1748C-5A26-E776-0AAE-D2A4958785C1}"/>
              </a:ext>
            </a:extLst>
          </p:cNvPr>
          <p:cNvSpPr txBox="1"/>
          <p:nvPr/>
        </p:nvSpPr>
        <p:spPr>
          <a:xfrm>
            <a:off x="838201" y="5529294"/>
            <a:ext cx="46116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Charging Case Comparison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FC3241-7BD9-9030-90A3-BE1CB2EDADCE}"/>
              </a:ext>
            </a:extLst>
          </p:cNvPr>
          <p:cNvSpPr txBox="1"/>
          <p:nvPr/>
        </p:nvSpPr>
        <p:spPr>
          <a:xfrm>
            <a:off x="6096000" y="5529294"/>
            <a:ext cx="46116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Disc</a:t>
            </a:r>
            <a:r>
              <a:rPr lang="en-US" sz="1800" b="1" dirty="0"/>
              <a:t>harging Case Comparison</a:t>
            </a:r>
          </a:p>
        </p:txBody>
      </p:sp>
    </p:spTree>
    <p:extLst>
      <p:ext uri="{BB962C8B-B14F-4D97-AF65-F5344CB8AC3E}">
        <p14:creationId xmlns:p14="http://schemas.microsoft.com/office/powerpoint/2010/main" val="25250328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9297-1BF1-8A0A-ED7E-35901B97C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53AB9-FF51-8FED-6187-293D186FEC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175" y="1474685"/>
            <a:ext cx="10415649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NCFL:</a:t>
            </a:r>
          </a:p>
          <a:p>
            <a:r>
              <a:rPr lang="en-US" dirty="0"/>
              <a:t>Morris sensitivity analysis of NCFL, like what was done for the HITB</a:t>
            </a:r>
          </a:p>
          <a:p>
            <a:pPr lvl="1"/>
            <a:r>
              <a:rPr lang="en-US" sz="1800" dirty="0"/>
              <a:t>Develop Python script</a:t>
            </a:r>
          </a:p>
          <a:p>
            <a:pPr lvl="1"/>
            <a:r>
              <a:rPr lang="en-US" sz="1800" dirty="0"/>
              <a:t>Done in conjunction with Dr. </a:t>
            </a:r>
            <a:r>
              <a:rPr lang="en-US" sz="1800" dirty="0" err="1"/>
              <a:t>Linyu</a:t>
            </a:r>
            <a:r>
              <a:rPr lang="en-US" sz="1800" dirty="0"/>
              <a:t> Lin (C230)</a:t>
            </a:r>
          </a:p>
          <a:p>
            <a:r>
              <a:rPr lang="en-US" dirty="0"/>
              <a:t>Generate sensitivity report for NCFL components</a:t>
            </a:r>
          </a:p>
          <a:p>
            <a:pPr marL="0" indent="0">
              <a:buNone/>
            </a:pPr>
            <a:r>
              <a:rPr lang="en-US" b="1" dirty="0"/>
              <a:t>HITB:</a:t>
            </a:r>
          </a:p>
          <a:p>
            <a:r>
              <a:rPr lang="en-US" dirty="0"/>
              <a:t>Certain thermocouples within HITB are not operational</a:t>
            </a:r>
          </a:p>
          <a:p>
            <a:pPr lvl="1"/>
            <a:r>
              <a:rPr lang="en-US" dirty="0"/>
              <a:t>Sensor reconstruction based on nearby thermocouple measurements</a:t>
            </a:r>
          </a:p>
          <a:p>
            <a:r>
              <a:rPr lang="en-US" dirty="0"/>
              <a:t>Identify efficient methods of sensor recreation and error analysis</a:t>
            </a:r>
          </a:p>
          <a:p>
            <a:pPr marL="0" indent="0">
              <a:buNone/>
            </a:pPr>
            <a:r>
              <a:rPr lang="en-US" dirty="0"/>
              <a:t>Conference plans:</a:t>
            </a:r>
          </a:p>
          <a:p>
            <a:r>
              <a:rPr lang="en-US" dirty="0"/>
              <a:t>Will be presenting progress at the ANS winter conference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218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921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E4CE-40EC-5BEA-E3A4-5F7D5CD5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14962-0F75-5024-C8D5-7E9CF80FD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and Control Workflow for HITB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C544A-645D-947E-5731-A525003A6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16</a:t>
            </a:fld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9D03D21-D736-5276-3820-A01007015E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4" t="9640" r="5238" b="15646"/>
          <a:stretch>
            <a:fillRect/>
          </a:stretch>
        </p:blipFill>
        <p:spPr>
          <a:xfrm>
            <a:off x="1474903" y="1138787"/>
            <a:ext cx="9242194" cy="50976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F35F0E-1468-D8C5-B04C-B49604865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9178" y="6185015"/>
            <a:ext cx="6807078" cy="67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875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35AE5-4B26-95C4-09A4-7D4B51AD4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Instrumentation for NCFL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78B10E-E5CD-C7DE-B9C6-78A44679C5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07" y="1029298"/>
            <a:ext cx="3396632" cy="35240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A60B85-CCE6-D857-790B-BA276A7FC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96886" y="1595302"/>
            <a:ext cx="3530513" cy="26478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4FDAF-D2A3-6662-5299-A41E400B70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797785" y="3768331"/>
            <a:ext cx="2080359" cy="39995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0E3003-5875-47F8-28C2-265CF5B04D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265" y="1567399"/>
            <a:ext cx="2312126" cy="25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45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F7EBA-1B4D-5608-F812-D13910B90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LabView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2CE4EB-1717-2B02-6BD4-C7F737485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63" y="1567399"/>
            <a:ext cx="5322327" cy="30238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7B95BF-F286-E422-5CFE-75200F615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63271" y="1182611"/>
            <a:ext cx="2168997" cy="328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04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7D92D-6112-DB75-90E6-B25478126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Component Reference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29B19-1D80-6911-8BD7-6C264675E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913" y="1457160"/>
            <a:ext cx="3292062" cy="1966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952A6D-2DB3-2E3A-6A66-529E7F874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471" y="2980567"/>
            <a:ext cx="2046652" cy="16653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8A1024-155D-B225-8534-71F875DEB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323" y="1457160"/>
            <a:ext cx="4019800" cy="13084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2D3554-FD80-B53A-53EC-139AF4228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25" y="1457160"/>
            <a:ext cx="2140040" cy="318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294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C7D9C-3E11-6E37-B225-82A623B9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References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88B80C-E2A0-EE8E-9D0E-8348E77C9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6" y="1375444"/>
            <a:ext cx="6762984" cy="226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13D6F5-6E56-E96C-0F26-6B2BA72F1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204" y="1319997"/>
            <a:ext cx="4083260" cy="255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29810"/>
      </p:ext>
    </p:extLst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A0E71F64CFD14FB2F6B3DEB4727ADA" ma:contentTypeVersion="12" ma:contentTypeDescription="Create a new document." ma:contentTypeScope="" ma:versionID="fcb90ed76e27e835c1a2b22d174af0b3">
  <xsd:schema xmlns:xsd="http://www.w3.org/2001/XMLSchema" xmlns:xs="http://www.w3.org/2001/XMLSchema" xmlns:p="http://schemas.microsoft.com/office/2006/metadata/properties" xmlns:ns2="d0fe306c-4311-4d98-bfeb-f24e940dc6d7" xmlns:ns3="9d5f75ef-dd33-4f64-9268-55ba49253791" targetNamespace="http://schemas.microsoft.com/office/2006/metadata/properties" ma:root="true" ma:fieldsID="b1139ed7ceb26edfd20c35aa1ad59274" ns2:_="" ns3:_="">
    <xsd:import namespace="d0fe306c-4311-4d98-bfeb-f24e940dc6d7"/>
    <xsd:import namespace="9d5f75ef-dd33-4f64-9268-55ba492537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fe306c-4311-4d98-bfeb-f24e940dc6d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f75ef-dd33-4f64-9268-55ba49253791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05c34843-83d0-48b2-b223-ad41754424de}" ma:internalName="TaxCatchAll" ma:showField="CatchAllData" ma:web="9d5f75ef-dd33-4f64-9268-55ba492537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f75ef-dd33-4f64-9268-55ba49253791" xsi:nil="true"/>
    <lcf76f155ced4ddcb4097134ff3c332f xmlns="d0fe306c-4311-4d98-bfeb-f24e940dc6d7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A46BD76-A966-4DD1-B245-E50F56F285FC}">
  <ds:schemaRefs>
    <ds:schemaRef ds:uri="9d5f75ef-dd33-4f64-9268-55ba49253791"/>
    <ds:schemaRef ds:uri="d0fe306c-4311-4d98-bfeb-f24e940dc6d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2E72521-46AD-4BAF-8AA5-1067FA401909}">
  <ds:schemaRefs>
    <ds:schemaRef ds:uri="2391d807-f94f-4c4f-bb14-493106c624c2"/>
    <ds:schemaRef ds:uri="42ea9b75-b306-4826-8769-4c6ad6718b67"/>
    <ds:schemaRef ds:uri="9d5f75ef-dd33-4f64-9268-55ba49253791"/>
    <ds:schemaRef ds:uri="d0fe306c-4311-4d98-bfeb-f24e940dc6d7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INL_2022_hexLight_wide_template</Template>
  <TotalTime>255</TotalTime>
  <Words>1201</Words>
  <Application>Microsoft Office PowerPoint</Application>
  <PresentationFormat>Widescreen</PresentationFormat>
  <Paragraphs>144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Project Overview</vt:lpstr>
      <vt:lpstr>Heat Pipe-Integrated Thermal Battery (HITB)</vt:lpstr>
      <vt:lpstr>Natural Circulation Flow Loop (NCFL)</vt:lpstr>
      <vt:lpstr>Refined Dymola Model</vt:lpstr>
      <vt:lpstr>Natural Circulation Capabilities</vt:lpstr>
      <vt:lpstr>Additional Features of the NCFL Model</vt:lpstr>
      <vt:lpstr>Long-Term System Stability in Dymola</vt:lpstr>
      <vt:lpstr>Adaptive Heating</vt:lpstr>
      <vt:lpstr>Python Integration of NCFL Dymola Model</vt:lpstr>
      <vt:lpstr>Experimental Data Campaign (UTK)</vt:lpstr>
      <vt:lpstr>DeepLynx Integration </vt:lpstr>
      <vt:lpstr>Sensor Reconstruction Work for HITB</vt:lpstr>
      <vt:lpstr>Future Work</vt:lpstr>
      <vt:lpstr>PowerPoint Presentation</vt:lpstr>
      <vt:lpstr>Data and Control Workflow for HITB</vt:lpstr>
      <vt:lpstr>Instrumentation for NCFL</vt:lpstr>
      <vt:lpstr>LabView</vt:lpstr>
      <vt:lpstr>Component Reference</vt:lpstr>
      <vt:lpstr>Python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 Vishwa Naicker</dc:creator>
  <cp:keywords/>
  <dc:description/>
  <cp:lastModifiedBy>Naicker, Hari</cp:lastModifiedBy>
  <cp:revision>3</cp:revision>
  <dcterms:created xsi:type="dcterms:W3CDTF">2026-07-21T14:44:33Z</dcterms:created>
  <dcterms:modified xsi:type="dcterms:W3CDTF">2026-08-31T13:02:06Z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0x010100D1A0E71F64CFD14FB2F6B3DEB4727ADA</vt:lpwstr>
  </property>
  <property fmtid="{D5CDD505-2E9C-101B-9397-08002B2CF9AE}" pid="3" name="Order">
    <vt:r8>73000</vt:r8>
  </property>
  <property fmtid="{D5CDD505-2E9C-101B-9397-08002B2CF9AE}" pid="4" name="MediaServiceImageTags">
    <vt:lpwstr/>
  </property>
</Properties>
</file>